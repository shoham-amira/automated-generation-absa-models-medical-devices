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</p:sldIdLst>
  <p:sldSz cx="18288000" cy="10287000"/>
  <p:notesSz cx="6858000" cy="9144000"/>
  <p:embeddedFontLst>
    <p:embeddedFont>
      <p:font typeface="Agrandir" panose="020B0604020202020204" charset="0"/>
      <p:regular r:id="rId33"/>
    </p:embeddedFont>
    <p:embeddedFont>
      <p:font typeface="Agrandir Bold" panose="020B0604020202020204" charset="0"/>
      <p:regular r:id="rId34"/>
    </p:embeddedFont>
    <p:embeddedFont>
      <p:font typeface="Arimo" panose="020B0604020202020204" charset="0"/>
      <p:regular r:id="rId35"/>
    </p:embeddedFont>
    <p:embeddedFont>
      <p:font typeface="Fredoka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90" y="5622459"/>
            <a:ext cx="3504663" cy="4702176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10"/>
                </a:lnTo>
                <a:lnTo>
                  <a:pt x="0" y="5216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4828807" y="0"/>
            <a:ext cx="3444445" cy="2843567"/>
          </a:xfrm>
          <a:custGeom>
            <a:avLst/>
            <a:gdLst/>
            <a:ahLst/>
            <a:cxnLst/>
            <a:rect l="l" t="t" r="r" b="b"/>
            <a:pathLst>
              <a:path w="4236611" h="2998950">
                <a:moveTo>
                  <a:pt x="0" y="0"/>
                </a:moveTo>
                <a:lnTo>
                  <a:pt x="4236612" y="0"/>
                </a:lnTo>
                <a:lnTo>
                  <a:pt x="4236612" y="2998949"/>
                </a:lnTo>
                <a:lnTo>
                  <a:pt x="0" y="2998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3504663" y="7784246"/>
            <a:ext cx="9352900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Students:</a:t>
            </a:r>
            <a:r>
              <a:rPr lang="en-US" sz="33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Shoham Rachel Amira &amp; Adi Malka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12086" y="1769197"/>
            <a:ext cx="12863828" cy="508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774"/>
              </a:lnSpc>
            </a:pPr>
            <a:r>
              <a:rPr lang="en-US" sz="6390" dirty="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AUTOMATED GENERATION OF ABSA MODELS FOR MEDICAL DEVICES USING SYNTHETIC DATA</a:t>
            </a:r>
          </a:p>
          <a:p>
            <a:pPr algn="ctr" rtl="1">
              <a:lnSpc>
                <a:spcPts val="6456"/>
              </a:lnSpc>
            </a:pPr>
            <a:endParaRPr lang="en-US" sz="6390" dirty="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 rtl="1">
              <a:lnSpc>
                <a:spcPts val="6456"/>
              </a:lnSpc>
            </a:pPr>
            <a:endParaRPr lang="en-US" sz="6390" dirty="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04663" y="7075401"/>
            <a:ext cx="7151940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Lecturer: </a:t>
            </a:r>
            <a:r>
              <a:rPr lang="en-US" sz="33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Dr. Aparcin Alexander</a:t>
            </a:r>
          </a:p>
        </p:txBody>
      </p:sp>
      <p:sp>
        <p:nvSpPr>
          <p:cNvPr id="7" name="Freeform 7"/>
          <p:cNvSpPr/>
          <p:nvPr/>
        </p:nvSpPr>
        <p:spPr>
          <a:xfrm rot="-10800000" flipH="1">
            <a:off x="15671639" y="6256471"/>
            <a:ext cx="2604071" cy="4030529"/>
          </a:xfrm>
          <a:custGeom>
            <a:avLst/>
            <a:gdLst/>
            <a:ahLst/>
            <a:cxnLst/>
            <a:rect l="l" t="t" r="r" b="b"/>
            <a:pathLst>
              <a:path w="3338544" h="4702174">
                <a:moveTo>
                  <a:pt x="3338543" y="0"/>
                </a:moveTo>
                <a:lnTo>
                  <a:pt x="0" y="0"/>
                </a:lnTo>
                <a:lnTo>
                  <a:pt x="0" y="4702174"/>
                </a:lnTo>
                <a:lnTo>
                  <a:pt x="3338543" y="4702174"/>
                </a:lnTo>
                <a:lnTo>
                  <a:pt x="333854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15136" y="-104109"/>
            <a:ext cx="2072535" cy="3418809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240000" y="63473"/>
            <a:ext cx="3211273" cy="3251227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4" name="TextBox 4"/>
          <p:cNvSpPr txBox="1"/>
          <p:nvPr/>
        </p:nvSpPr>
        <p:spPr>
          <a:xfrm>
            <a:off x="2296873" y="472390"/>
            <a:ext cx="12214620" cy="356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What is Aspect Based Sentiment Analysis?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91319" y="2680312"/>
            <a:ext cx="15994708" cy="104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Aspect Based Sentiment Analysis identifies the sentiment expressed toward specific aspects of a product, instead of predicting only the overall review sentiment.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252990"/>
            <a:ext cx="17259300" cy="451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u="none" strike="noStrik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we did:</a:t>
            </a:r>
          </a:p>
          <a:p>
            <a:pPr marL="604523" lvl="1" indent="-302261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We used an ABSA-inspired multi-output approach: the model receives one review and predicts a score for every extracted aspect.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2800" u="none" strike="noStrike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u="none" strike="noStrik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Review → Aspect Score Vector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Score meaning:</a:t>
            </a:r>
          </a:p>
          <a:p>
            <a:pPr marL="604523" lvl="1" indent="-302261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positive mention = 1</a:t>
            </a:r>
          </a:p>
          <a:p>
            <a:pPr marL="604523" lvl="1" indent="-302261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negative mention = -1</a:t>
            </a:r>
          </a:p>
          <a:p>
            <a:pPr marL="604523" lvl="1" indent="-302261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aspect not mentioned = 0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35642"/>
            <a:ext cx="1981200" cy="2776168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316200" y="-17208"/>
            <a:ext cx="3147290" cy="3787152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grpSp>
        <p:nvGrpSpPr>
          <p:cNvPr id="4" name="Group 4"/>
          <p:cNvGrpSpPr/>
          <p:nvPr/>
        </p:nvGrpSpPr>
        <p:grpSpPr>
          <a:xfrm>
            <a:off x="99797" y="2975271"/>
            <a:ext cx="9951352" cy="3096097"/>
            <a:chOff x="0" y="0"/>
            <a:chExt cx="2620932" cy="8154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20932" cy="815433"/>
            </a:xfrm>
            <a:custGeom>
              <a:avLst/>
              <a:gdLst/>
              <a:ahLst/>
              <a:cxnLst/>
              <a:rect l="l" t="t" r="r" b="b"/>
              <a:pathLst>
                <a:path w="2620932" h="815433">
                  <a:moveTo>
                    <a:pt x="39677" y="0"/>
                  </a:moveTo>
                  <a:lnTo>
                    <a:pt x="2581255" y="0"/>
                  </a:lnTo>
                  <a:cubicBezTo>
                    <a:pt x="2603168" y="0"/>
                    <a:pt x="2620932" y="17764"/>
                    <a:pt x="2620932" y="39677"/>
                  </a:cubicBezTo>
                  <a:lnTo>
                    <a:pt x="2620932" y="775756"/>
                  </a:lnTo>
                  <a:cubicBezTo>
                    <a:pt x="2620932" y="797669"/>
                    <a:pt x="2603168" y="815433"/>
                    <a:pt x="2581255" y="815433"/>
                  </a:cubicBezTo>
                  <a:lnTo>
                    <a:pt x="39677" y="815433"/>
                  </a:lnTo>
                  <a:cubicBezTo>
                    <a:pt x="17764" y="815433"/>
                    <a:pt x="0" y="797669"/>
                    <a:pt x="0" y="775756"/>
                  </a:cubicBezTo>
                  <a:lnTo>
                    <a:pt x="0" y="39677"/>
                  </a:lnTo>
                  <a:cubicBezTo>
                    <a:pt x="0" y="17764"/>
                    <a:pt x="17764" y="0"/>
                    <a:pt x="39677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620932" cy="863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40727" y="877061"/>
            <a:ext cx="13514356" cy="267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Motivation &amp; Project Definition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723639" y="2351702"/>
            <a:ext cx="2703668" cy="62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motivation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87473" y="5693557"/>
            <a:ext cx="5247507" cy="118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Goal</a:t>
            </a:r>
          </a:p>
          <a:p>
            <a:pPr algn="ctr">
              <a:lnSpc>
                <a:spcPts val="4480"/>
              </a:lnSpc>
            </a:pPr>
            <a:endParaRPr lang="en-US" sz="32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897905" y="6357767"/>
            <a:ext cx="9087453" cy="3328291"/>
            <a:chOff x="0" y="0"/>
            <a:chExt cx="2393403" cy="876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93403" cy="876587"/>
            </a:xfrm>
            <a:custGeom>
              <a:avLst/>
              <a:gdLst/>
              <a:ahLst/>
              <a:cxnLst/>
              <a:rect l="l" t="t" r="r" b="b"/>
              <a:pathLst>
                <a:path w="2393403" h="876587">
                  <a:moveTo>
                    <a:pt x="43449" y="0"/>
                  </a:moveTo>
                  <a:lnTo>
                    <a:pt x="2349954" y="0"/>
                  </a:lnTo>
                  <a:cubicBezTo>
                    <a:pt x="2361478" y="0"/>
                    <a:pt x="2372529" y="4578"/>
                    <a:pt x="2380677" y="12726"/>
                  </a:cubicBezTo>
                  <a:cubicBezTo>
                    <a:pt x="2388826" y="20874"/>
                    <a:pt x="2393403" y="31925"/>
                    <a:pt x="2393403" y="43449"/>
                  </a:cubicBezTo>
                  <a:lnTo>
                    <a:pt x="2393403" y="833138"/>
                  </a:lnTo>
                  <a:cubicBezTo>
                    <a:pt x="2393403" y="844662"/>
                    <a:pt x="2388826" y="855713"/>
                    <a:pt x="2380677" y="863861"/>
                  </a:cubicBezTo>
                  <a:cubicBezTo>
                    <a:pt x="2372529" y="872009"/>
                    <a:pt x="2361478" y="876587"/>
                    <a:pt x="2349954" y="876587"/>
                  </a:cubicBezTo>
                  <a:lnTo>
                    <a:pt x="43449" y="876587"/>
                  </a:lnTo>
                  <a:cubicBezTo>
                    <a:pt x="19453" y="876587"/>
                    <a:pt x="0" y="857134"/>
                    <a:pt x="0" y="833138"/>
                  </a:cubicBezTo>
                  <a:lnTo>
                    <a:pt x="0" y="43449"/>
                  </a:lnTo>
                  <a:cubicBezTo>
                    <a:pt x="0" y="31925"/>
                    <a:pt x="4578" y="20874"/>
                    <a:pt x="12726" y="12726"/>
                  </a:cubicBezTo>
                  <a:cubicBezTo>
                    <a:pt x="20874" y="4578"/>
                    <a:pt x="31925" y="0"/>
                    <a:pt x="43449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393403" cy="924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39504" y="6433887"/>
            <a:ext cx="8321832" cy="351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2804">
                <a:solidFill>
                  <a:srgbClr val="00167A"/>
                </a:solidFill>
                <a:latin typeface="Agrandir"/>
                <a:ea typeface="Agrandir"/>
                <a:cs typeface="Agrandir"/>
                <a:sym typeface="Agrandir"/>
              </a:rPr>
              <a:t>The goal of this project is to develop a generic pipeline that automatically extracts product specific aspects from a medical device PDF, generates labeled synthetic reviews, validates data quality, and trains a sentiment prediction model.</a:t>
            </a:r>
          </a:p>
          <a:p>
            <a:pPr algn="l">
              <a:lnSpc>
                <a:spcPts val="3925"/>
              </a:lnSpc>
            </a:pPr>
            <a:endParaRPr lang="en-US" sz="2804">
              <a:solidFill>
                <a:srgbClr val="00167A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73188" y="3098517"/>
            <a:ext cx="9236129" cy="302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167A"/>
                </a:solidFill>
                <a:latin typeface="Agrandir"/>
                <a:ea typeface="Agrandir"/>
                <a:cs typeface="Agrandir"/>
                <a:sym typeface="Agrandir"/>
              </a:rPr>
              <a:t>M</a:t>
            </a:r>
            <a:r>
              <a:rPr lang="en-US" sz="2800" u="none" strike="noStrike">
                <a:solidFill>
                  <a:srgbClr val="00167A"/>
                </a:solidFill>
                <a:latin typeface="Agrandir"/>
                <a:ea typeface="Agrandir"/>
                <a:cs typeface="Agrandir"/>
                <a:sym typeface="Agrandir"/>
              </a:rPr>
              <a:t>edical device reviews contain valuable information, but building labeled datasets for sentiment analysis requires a lot of manual work. In addition, each medical device has different characteristics, making it difficult to reuse existing datasets and models.</a:t>
            </a:r>
          </a:p>
          <a:p>
            <a:pPr marL="0" lvl="1" indent="0" algn="l">
              <a:lnSpc>
                <a:spcPts val="3920"/>
              </a:lnSpc>
              <a:spcBef>
                <a:spcPct val="0"/>
              </a:spcBef>
            </a:pPr>
            <a:endParaRPr lang="en-US" sz="2800" u="none" strike="noStrike">
              <a:solidFill>
                <a:srgbClr val="00167A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31672" y="1460791"/>
            <a:ext cx="15546678" cy="8745006"/>
          </a:xfrm>
          <a:custGeom>
            <a:avLst/>
            <a:gdLst/>
            <a:ahLst/>
            <a:cxnLst/>
            <a:rect l="l" t="t" r="r" b="b"/>
            <a:pathLst>
              <a:path w="15546678" h="8745006">
                <a:moveTo>
                  <a:pt x="0" y="0"/>
                </a:moveTo>
                <a:lnTo>
                  <a:pt x="15546678" y="0"/>
                </a:lnTo>
                <a:lnTo>
                  <a:pt x="15546678" y="8745006"/>
                </a:lnTo>
                <a:lnTo>
                  <a:pt x="0" y="8745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3528093" y="553032"/>
            <a:ext cx="10423634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Project Overview</a:t>
            </a: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4582" y="0"/>
            <a:ext cx="1929581" cy="2857500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3528093" y="553032"/>
            <a:ext cx="10423634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PDF Processing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444500"/>
            <a:ext cx="17083156" cy="496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199" lvl="1" indent="-332099" algn="l">
              <a:lnSpc>
                <a:spcPts val="4306"/>
              </a:lnSpc>
              <a:buFont typeface="Arial"/>
              <a:buChar char="•"/>
            </a:pPr>
            <a:r>
              <a:rPr lang="en-US" sz="307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Input</a:t>
            </a:r>
          </a:p>
          <a:p>
            <a:pPr algn="l">
              <a:lnSpc>
                <a:spcPts val="4306"/>
              </a:lnSpc>
            </a:pPr>
            <a:r>
              <a:rPr lang="en-US" sz="30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Medical Device Documentation</a:t>
            </a:r>
          </a:p>
          <a:p>
            <a:pPr algn="l">
              <a:lnSpc>
                <a:spcPts val="4306"/>
              </a:lnSpc>
            </a:pPr>
            <a:endParaRPr lang="en-US" sz="3076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64199" lvl="1" indent="-332099" algn="l">
              <a:lnSpc>
                <a:spcPts val="4306"/>
              </a:lnSpc>
              <a:buFont typeface="Arial"/>
              <a:buChar char="•"/>
            </a:pPr>
            <a:r>
              <a:rPr lang="en-US" sz="307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Processing Steps</a:t>
            </a:r>
          </a:p>
          <a:p>
            <a:pPr algn="l">
              <a:lnSpc>
                <a:spcPts val="4306"/>
              </a:lnSpc>
            </a:pPr>
            <a:r>
              <a:rPr lang="en-US" sz="30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Text Extraction, Text Cleaning, Text Chunking (splitting large documents into smaller sections for LLM processing)</a:t>
            </a:r>
          </a:p>
          <a:p>
            <a:pPr algn="l">
              <a:lnSpc>
                <a:spcPts val="4306"/>
              </a:lnSpc>
            </a:pPr>
            <a:endParaRPr lang="en-US" sz="3076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64199" lvl="1" indent="-332099" algn="l">
              <a:lnSpc>
                <a:spcPts val="4306"/>
              </a:lnSpc>
              <a:buFont typeface="Arial"/>
              <a:buChar char="•"/>
            </a:pPr>
            <a:r>
              <a:rPr lang="en-US" sz="307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Output</a:t>
            </a:r>
          </a:p>
          <a:p>
            <a:pPr algn="l">
              <a:lnSpc>
                <a:spcPts val="4306"/>
              </a:lnSpc>
            </a:pPr>
            <a:r>
              <a:rPr lang="en-US" sz="30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Structured text chunks ready for LLM processing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4834354" y="-1"/>
            <a:ext cx="3458562" cy="3298239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2353795" cy="2633314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2886347" y="731545"/>
            <a:ext cx="12515306" cy="179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Automatic Aspect Extraction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2422" y="2221688"/>
            <a:ext cx="17083156" cy="7131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An aspect is a product feature that users can express an opinion about.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Extracted automatically from each medical device documentation using an LLM.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prompt requires for 5-8 document-grounded, product-specific, non-overlapping aspects.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Each product receives its own aspect list, based on its documentation.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extracted aspects are saved as a JSON schema with an aspect_name and a short description.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This JSON schema is later used for synthetic review generation and model training.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5011400" y="0"/>
            <a:ext cx="3458562" cy="2866104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4055" y="-35643"/>
            <a:ext cx="2711233" cy="3217243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2725289" y="694411"/>
            <a:ext cx="12515306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Example Of Aspects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14935199" y="24324"/>
            <a:ext cx="3481403" cy="2867221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grpSp>
        <p:nvGrpSpPr>
          <p:cNvPr id="5" name="Group 5"/>
          <p:cNvGrpSpPr/>
          <p:nvPr/>
        </p:nvGrpSpPr>
        <p:grpSpPr>
          <a:xfrm>
            <a:off x="1232301" y="3561833"/>
            <a:ext cx="6149903" cy="4042648"/>
            <a:chOff x="0" y="0"/>
            <a:chExt cx="1619728" cy="10647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9728" cy="1064730"/>
            </a:xfrm>
            <a:custGeom>
              <a:avLst/>
              <a:gdLst/>
              <a:ahLst/>
              <a:cxnLst/>
              <a:rect l="l" t="t" r="r" b="b"/>
              <a:pathLst>
                <a:path w="1619728" h="1064730">
                  <a:moveTo>
                    <a:pt x="64202" y="0"/>
                  </a:moveTo>
                  <a:lnTo>
                    <a:pt x="1555525" y="0"/>
                  </a:lnTo>
                  <a:cubicBezTo>
                    <a:pt x="1572553" y="0"/>
                    <a:pt x="1588883" y="6764"/>
                    <a:pt x="1600923" y="18804"/>
                  </a:cubicBezTo>
                  <a:cubicBezTo>
                    <a:pt x="1612964" y="30845"/>
                    <a:pt x="1619728" y="47175"/>
                    <a:pt x="1619728" y="64202"/>
                  </a:cubicBezTo>
                  <a:lnTo>
                    <a:pt x="1619728" y="1000528"/>
                  </a:lnTo>
                  <a:cubicBezTo>
                    <a:pt x="1619728" y="1035986"/>
                    <a:pt x="1590983" y="1064730"/>
                    <a:pt x="1555525" y="1064730"/>
                  </a:cubicBezTo>
                  <a:lnTo>
                    <a:pt x="64202" y="1064730"/>
                  </a:lnTo>
                  <a:cubicBezTo>
                    <a:pt x="28744" y="1064730"/>
                    <a:pt x="0" y="1035986"/>
                    <a:pt x="0" y="1000528"/>
                  </a:cubicBezTo>
                  <a:lnTo>
                    <a:pt x="0" y="64202"/>
                  </a:lnTo>
                  <a:cubicBezTo>
                    <a:pt x="0" y="28744"/>
                    <a:pt x="28744" y="0"/>
                    <a:pt x="64202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19728" cy="1112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32301" y="3688974"/>
            <a:ext cx="5494161" cy="429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Ease of Use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Durability &amp; Build Quality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Cleaning &amp; Maintenance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Compatibility with Syringes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Storage &amp; Handling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Performance in Fluid Delivery</a:t>
            </a:r>
          </a:p>
          <a:p>
            <a:pPr algn="l">
              <a:lnSpc>
                <a:spcPts val="3467"/>
              </a:lnSpc>
            </a:pPr>
            <a:endParaRPr lang="en-US" sz="2776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3467"/>
              </a:lnSpc>
            </a:pPr>
            <a:endParaRPr lang="en-US" sz="2776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3467"/>
              </a:lnSpc>
            </a:pPr>
            <a:endParaRPr lang="en-US" sz="2776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86922" y="2891546"/>
            <a:ext cx="2384918" cy="616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Uroject12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515703" y="3731428"/>
            <a:ext cx="6206435" cy="3873053"/>
            <a:chOff x="0" y="0"/>
            <a:chExt cx="1634617" cy="10200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34617" cy="1020063"/>
            </a:xfrm>
            <a:custGeom>
              <a:avLst/>
              <a:gdLst/>
              <a:ahLst/>
              <a:cxnLst/>
              <a:rect l="l" t="t" r="r" b="b"/>
              <a:pathLst>
                <a:path w="1634617" h="1020063">
                  <a:moveTo>
                    <a:pt x="63618" y="0"/>
                  </a:moveTo>
                  <a:lnTo>
                    <a:pt x="1570999" y="0"/>
                  </a:lnTo>
                  <a:cubicBezTo>
                    <a:pt x="1587872" y="0"/>
                    <a:pt x="1604053" y="6703"/>
                    <a:pt x="1615984" y="18633"/>
                  </a:cubicBezTo>
                  <a:cubicBezTo>
                    <a:pt x="1627914" y="30564"/>
                    <a:pt x="1634617" y="46745"/>
                    <a:pt x="1634617" y="63618"/>
                  </a:cubicBezTo>
                  <a:lnTo>
                    <a:pt x="1634617" y="956446"/>
                  </a:lnTo>
                  <a:cubicBezTo>
                    <a:pt x="1634617" y="973318"/>
                    <a:pt x="1627914" y="989500"/>
                    <a:pt x="1615984" y="1001430"/>
                  </a:cubicBezTo>
                  <a:cubicBezTo>
                    <a:pt x="1604053" y="1013361"/>
                    <a:pt x="1587872" y="1020063"/>
                    <a:pt x="1570999" y="1020063"/>
                  </a:cubicBezTo>
                  <a:lnTo>
                    <a:pt x="63618" y="1020063"/>
                  </a:lnTo>
                  <a:cubicBezTo>
                    <a:pt x="46745" y="1020063"/>
                    <a:pt x="30564" y="1013361"/>
                    <a:pt x="18633" y="1001430"/>
                  </a:cubicBezTo>
                  <a:cubicBezTo>
                    <a:pt x="6703" y="989500"/>
                    <a:pt x="0" y="973318"/>
                    <a:pt x="0" y="956446"/>
                  </a:cubicBezTo>
                  <a:lnTo>
                    <a:pt x="0" y="63618"/>
                  </a:lnTo>
                  <a:cubicBezTo>
                    <a:pt x="0" y="46745"/>
                    <a:pt x="6703" y="30564"/>
                    <a:pt x="18633" y="18633"/>
                  </a:cubicBezTo>
                  <a:cubicBezTo>
                    <a:pt x="30564" y="6703"/>
                    <a:pt x="46745" y="0"/>
                    <a:pt x="63618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34617" cy="1067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868228" y="3804460"/>
            <a:ext cx="8744733" cy="346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Battery Life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Pacing Modes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Device Portability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Output Adjustability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Sensitivity &amp; Detection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Safety Features</a:t>
            </a:r>
          </a:p>
          <a:p>
            <a:pPr marL="599430" lvl="1" indent="-299715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Rate Range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33948" y="3060734"/>
            <a:ext cx="3769945" cy="115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Medtronic 53401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2125195" cy="3166714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2886347" y="803315"/>
            <a:ext cx="12515306" cy="179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Nuance Attribute Extraction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635888"/>
            <a:ext cx="15964627" cy="692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5682" lvl="1" indent="-347841" algn="l">
              <a:lnSpc>
                <a:spcPts val="4511"/>
              </a:lnSpc>
              <a:buFont typeface="Arial"/>
              <a:buChar char="•"/>
            </a:pPr>
            <a:r>
              <a:rPr lang="en-US" sz="3222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 nuance is a background factor that shapes how a synthetic review is written.</a:t>
            </a:r>
          </a:p>
          <a:p>
            <a:pPr algn="l">
              <a:lnSpc>
                <a:spcPts val="4511"/>
              </a:lnSpc>
            </a:pPr>
            <a:endParaRPr lang="en-US" sz="3222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95682" lvl="1" indent="-347841" algn="l">
              <a:lnSpc>
                <a:spcPts val="4511"/>
              </a:lnSpc>
              <a:buFont typeface="Arial"/>
              <a:buChar char="•"/>
            </a:pPr>
            <a:r>
              <a:rPr lang="en-US" sz="3222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Motivation: make generated reviews more diverse, natural, and realistic.</a:t>
            </a:r>
          </a:p>
          <a:p>
            <a:pPr algn="l">
              <a:lnSpc>
                <a:spcPts val="4511"/>
              </a:lnSpc>
            </a:pPr>
            <a:endParaRPr lang="en-US" sz="3222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95682" lvl="1" indent="-347841" algn="l">
              <a:lnSpc>
                <a:spcPts val="4511"/>
              </a:lnSpc>
              <a:buFont typeface="Arial"/>
              <a:buChar char="•"/>
            </a:pPr>
            <a:r>
              <a:rPr lang="en-US" sz="3222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 prompt is sent to the LLM to extract 6 nuance dimensions from the medical device documentation, with 3-6 possible values per dimension.</a:t>
            </a:r>
          </a:p>
          <a:p>
            <a:pPr algn="l">
              <a:lnSpc>
                <a:spcPts val="4511"/>
              </a:lnSpc>
            </a:pPr>
            <a:endParaRPr lang="en-US" sz="3222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95682" lvl="1" indent="-347841" algn="l">
              <a:lnSpc>
                <a:spcPts val="4511"/>
              </a:lnSpc>
              <a:buFont typeface="Arial"/>
              <a:buChar char="•"/>
            </a:pPr>
            <a:r>
              <a:rPr lang="en-US" sz="3222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Extracted nuances are saved as JSON: </a:t>
            </a:r>
            <a:r>
              <a:rPr lang="en-US" sz="3222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dimension_name</a:t>
            </a:r>
            <a:r>
              <a:rPr lang="en-US" sz="3222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, description, </a:t>
            </a:r>
            <a:r>
              <a:rPr lang="en-US" sz="3222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possible_values</a:t>
            </a:r>
            <a:r>
              <a:rPr lang="en-US" sz="3222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.</a:t>
            </a:r>
          </a:p>
          <a:p>
            <a:pPr algn="l">
              <a:lnSpc>
                <a:spcPts val="4511"/>
              </a:lnSpc>
            </a:pPr>
            <a:endParaRPr lang="en-US" sz="3222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95682" lvl="1" indent="-347841" algn="l">
              <a:lnSpc>
                <a:spcPts val="4511"/>
              </a:lnSpc>
              <a:buFont typeface="Arial"/>
              <a:buChar char="•"/>
            </a:pPr>
            <a:r>
              <a:rPr lang="en-US" sz="3222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Used later during review generation to guide the review’s context, tone, and level of detail.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5087600" y="25810"/>
            <a:ext cx="3200400" cy="298409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17208"/>
            <a:ext cx="2286000" cy="3350341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3" name="TextBox 3"/>
          <p:cNvSpPr txBox="1"/>
          <p:nvPr/>
        </p:nvSpPr>
        <p:spPr>
          <a:xfrm>
            <a:off x="2886347" y="803315"/>
            <a:ext cx="12515306" cy="179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Example Of Nuance Attribute 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" name="Freeform 4"/>
          <p:cNvSpPr/>
          <p:nvPr/>
        </p:nvSpPr>
        <p:spPr>
          <a:xfrm flipH="1" flipV="1">
            <a:off x="15011400" y="-35642"/>
            <a:ext cx="3370270" cy="3350342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5ED36AB6-8200-8A0D-9A07-8C438EF8E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669" y="2568380"/>
            <a:ext cx="14488409" cy="6915305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1" y="-26500"/>
            <a:ext cx="2522711" cy="3264999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3" name="TextBox 3"/>
          <p:cNvSpPr txBox="1"/>
          <p:nvPr/>
        </p:nvSpPr>
        <p:spPr>
          <a:xfrm>
            <a:off x="2886347" y="622445"/>
            <a:ext cx="12515306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Review Generation Controls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05627" y="1911152"/>
            <a:ext cx="8494630" cy="115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Example Aspect: </a:t>
            </a:r>
            <a:r>
              <a:rPr lang="en-US" sz="30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cleaning and maintenance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5" name="Freeform 5"/>
          <p:cNvSpPr/>
          <p:nvPr/>
        </p:nvSpPr>
        <p:spPr>
          <a:xfrm flipH="1" flipV="1">
            <a:off x="14821327" y="125900"/>
            <a:ext cx="3466673" cy="3624168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1B72F005-0C7C-70F7-E103-ECA09BDE6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861833"/>
            <a:ext cx="14478000" cy="7058240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481" y="6591299"/>
            <a:ext cx="4021319" cy="3835537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grpSp>
        <p:nvGrpSpPr>
          <p:cNvPr id="3" name="Group 3"/>
          <p:cNvGrpSpPr/>
          <p:nvPr/>
        </p:nvGrpSpPr>
        <p:grpSpPr>
          <a:xfrm>
            <a:off x="808170" y="2327852"/>
            <a:ext cx="4513102" cy="739042"/>
            <a:chOff x="0" y="0"/>
            <a:chExt cx="1188636" cy="1946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88636" cy="194645"/>
            </a:xfrm>
            <a:custGeom>
              <a:avLst/>
              <a:gdLst/>
              <a:ahLst/>
              <a:cxnLst/>
              <a:rect l="l" t="t" r="r" b="b"/>
              <a:pathLst>
                <a:path w="1188636" h="194645">
                  <a:moveTo>
                    <a:pt x="87487" y="0"/>
                  </a:moveTo>
                  <a:lnTo>
                    <a:pt x="1101149" y="0"/>
                  </a:lnTo>
                  <a:cubicBezTo>
                    <a:pt x="1149467" y="0"/>
                    <a:pt x="1188636" y="39169"/>
                    <a:pt x="1188636" y="87487"/>
                  </a:cubicBezTo>
                  <a:lnTo>
                    <a:pt x="1188636" y="107158"/>
                  </a:lnTo>
                  <a:cubicBezTo>
                    <a:pt x="1188636" y="155475"/>
                    <a:pt x="1149467" y="194645"/>
                    <a:pt x="1101149" y="194645"/>
                  </a:cubicBezTo>
                  <a:lnTo>
                    <a:pt x="87487" y="194645"/>
                  </a:lnTo>
                  <a:cubicBezTo>
                    <a:pt x="39169" y="194645"/>
                    <a:pt x="0" y="155475"/>
                    <a:pt x="0" y="107158"/>
                  </a:cubicBezTo>
                  <a:lnTo>
                    <a:pt x="0" y="87487"/>
                  </a:lnTo>
                  <a:cubicBezTo>
                    <a:pt x="0" y="39169"/>
                    <a:pt x="39169" y="0"/>
                    <a:pt x="87487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188636" cy="242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25996" y="2289128"/>
            <a:ext cx="4261265" cy="716093"/>
            <a:chOff x="0" y="0"/>
            <a:chExt cx="1122308" cy="1886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2308" cy="188601"/>
            </a:xfrm>
            <a:custGeom>
              <a:avLst/>
              <a:gdLst/>
              <a:ahLst/>
              <a:cxnLst/>
              <a:rect l="l" t="t" r="r" b="b"/>
              <a:pathLst>
                <a:path w="1122308" h="188601">
                  <a:moveTo>
                    <a:pt x="92657" y="0"/>
                  </a:moveTo>
                  <a:lnTo>
                    <a:pt x="1029651" y="0"/>
                  </a:lnTo>
                  <a:cubicBezTo>
                    <a:pt x="1080824" y="0"/>
                    <a:pt x="1122308" y="41484"/>
                    <a:pt x="1122308" y="92657"/>
                  </a:cubicBezTo>
                  <a:lnTo>
                    <a:pt x="1122308" y="95943"/>
                  </a:lnTo>
                  <a:cubicBezTo>
                    <a:pt x="1122308" y="147116"/>
                    <a:pt x="1080824" y="188601"/>
                    <a:pt x="1029651" y="188601"/>
                  </a:cubicBezTo>
                  <a:lnTo>
                    <a:pt x="92657" y="188601"/>
                  </a:lnTo>
                  <a:cubicBezTo>
                    <a:pt x="41484" y="188601"/>
                    <a:pt x="0" y="147116"/>
                    <a:pt x="0" y="95943"/>
                  </a:cubicBezTo>
                  <a:lnTo>
                    <a:pt x="0" y="92657"/>
                  </a:lnTo>
                  <a:cubicBezTo>
                    <a:pt x="0" y="41484"/>
                    <a:pt x="41484" y="0"/>
                    <a:pt x="92657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22308" cy="2362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30114" y="2250403"/>
            <a:ext cx="4993631" cy="793543"/>
            <a:chOff x="0" y="0"/>
            <a:chExt cx="1315195" cy="2089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15195" cy="208999"/>
            </a:xfrm>
            <a:custGeom>
              <a:avLst/>
              <a:gdLst/>
              <a:ahLst/>
              <a:cxnLst/>
              <a:rect l="l" t="t" r="r" b="b"/>
              <a:pathLst>
                <a:path w="1315195" h="208999">
                  <a:moveTo>
                    <a:pt x="79068" y="0"/>
                  </a:moveTo>
                  <a:lnTo>
                    <a:pt x="1236127" y="0"/>
                  </a:lnTo>
                  <a:cubicBezTo>
                    <a:pt x="1257097" y="0"/>
                    <a:pt x="1277208" y="8330"/>
                    <a:pt x="1292036" y="23159"/>
                  </a:cubicBezTo>
                  <a:cubicBezTo>
                    <a:pt x="1306865" y="37987"/>
                    <a:pt x="1315195" y="58098"/>
                    <a:pt x="1315195" y="79068"/>
                  </a:cubicBezTo>
                  <a:lnTo>
                    <a:pt x="1315195" y="129931"/>
                  </a:lnTo>
                  <a:cubicBezTo>
                    <a:pt x="1315195" y="150901"/>
                    <a:pt x="1306865" y="171012"/>
                    <a:pt x="1292036" y="185840"/>
                  </a:cubicBezTo>
                  <a:cubicBezTo>
                    <a:pt x="1277208" y="200669"/>
                    <a:pt x="1257097" y="208999"/>
                    <a:pt x="1236127" y="208999"/>
                  </a:cubicBezTo>
                  <a:lnTo>
                    <a:pt x="79068" y="208999"/>
                  </a:lnTo>
                  <a:cubicBezTo>
                    <a:pt x="58098" y="208999"/>
                    <a:pt x="37987" y="200669"/>
                    <a:pt x="23159" y="185840"/>
                  </a:cubicBezTo>
                  <a:cubicBezTo>
                    <a:pt x="8330" y="171012"/>
                    <a:pt x="0" y="150901"/>
                    <a:pt x="0" y="129931"/>
                  </a:cubicBezTo>
                  <a:lnTo>
                    <a:pt x="0" y="79068"/>
                  </a:lnTo>
                  <a:cubicBezTo>
                    <a:pt x="0" y="58098"/>
                    <a:pt x="8330" y="37987"/>
                    <a:pt x="23159" y="23159"/>
                  </a:cubicBezTo>
                  <a:cubicBezTo>
                    <a:pt x="37987" y="8330"/>
                    <a:pt x="58098" y="0"/>
                    <a:pt x="79068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315195" cy="256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\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446017" y="2300796"/>
            <a:ext cx="4813283" cy="196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176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Fine-Tuning Strategy</a:t>
            </a:r>
          </a:p>
          <a:p>
            <a:pPr algn="l">
              <a:lnSpc>
                <a:spcPts val="3467"/>
              </a:lnSpc>
            </a:pPr>
            <a:endParaRPr lang="en-US" sz="3176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3467"/>
              </a:lnSpc>
            </a:pPr>
            <a:endParaRPr lang="en-US" sz="3176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3467"/>
              </a:lnSpc>
            </a:pPr>
            <a:endParaRPr lang="en-US" sz="3176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030114" y="3250738"/>
            <a:ext cx="6118907" cy="571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Loss Function: Mean Squared Error (MSE)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Learning Rate: 1e-5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Batch Size: 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Epochs: 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Weight Decay: 0.05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Maximum Sequence Length: 256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Hidden Dropout: 0.2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Attention Dropout: 0.2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Classifier Dropout: 0.2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Dynamic Padding (DataCollatorWithPadding)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Early Stopping (Patience = 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Best Model Selection using Validation Loss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59002" y="2929646"/>
            <a:ext cx="6071112" cy="4432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endParaRPr dirty="0"/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Start from the validated synthetic review dataset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Split into Train / Validation / Test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Fine-tune </a:t>
            </a:r>
            <a:r>
              <a:rPr lang="en-US" sz="2476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RoBERTa</a:t>
            </a:r>
            <a:endParaRPr lang="en-US" sz="2476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Input: review text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Output: continuous aspect-score </a:t>
            </a:r>
          </a:p>
          <a:p>
            <a:pPr algn="l">
              <a:lnSpc>
                <a:spcPts val="3467"/>
              </a:lnSpc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   vector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Task: multi-output regression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Evaluate model performance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7092" y="457443"/>
            <a:ext cx="12774933" cy="179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Model Architecture RoBERTa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2300796"/>
            <a:ext cx="4292573" cy="109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17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Why RoBERTa-base?</a:t>
            </a:r>
          </a:p>
          <a:p>
            <a:pPr algn="l">
              <a:lnSpc>
                <a:spcPts val="3467"/>
              </a:lnSpc>
            </a:pPr>
            <a:endParaRPr lang="en-US" sz="3176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0" y="3250738"/>
            <a:ext cx="6060954" cy="355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Pretrained transformer model for NLP tasks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Strong performance in sentiment analysis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Fine tuned on the generated medical review dataset</a:t>
            </a:r>
          </a:p>
          <a:p>
            <a:pPr algn="l">
              <a:lnSpc>
                <a:spcPts val="3467"/>
              </a:lnSpc>
            </a:pPr>
            <a:endParaRPr lang="en-US" sz="2476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3467"/>
              </a:lnSpc>
            </a:pPr>
            <a:endParaRPr lang="en-US" sz="2476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15685" y="2300796"/>
            <a:ext cx="3381525" cy="109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17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Training Process</a:t>
            </a:r>
          </a:p>
          <a:p>
            <a:pPr algn="l">
              <a:lnSpc>
                <a:spcPts val="3467"/>
              </a:lnSpc>
            </a:pPr>
            <a:endParaRPr lang="en-US" sz="3176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1094831" y="6872240"/>
          <a:ext cx="16230600" cy="5367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469100" imgH="8610600" progId="Excel.Sheet.12">
                  <p:embed/>
                </p:oleObj>
              </mc:Choice>
              <mc:Fallback>
                <p:oleObj name="Worksheet" r:id="rId2" imgW="19469100" imgH="861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94831" y="6872240"/>
                        <a:ext cx="16230600" cy="53679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186950" y="622445"/>
            <a:ext cx="10423634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5050" y="1767514"/>
            <a:ext cx="17590163" cy="455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JSON validation: used Python json library to parse each JSONL row and check required fields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u="none" strike="noStrike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Duplicate detection: used Python Counter to detect repeated review texts and remove duplicates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u="none" strike="noStrike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Label consistency checks: custom Python rules: validated -1 / 0 / 1 scores and selected/unselected aspects</a:t>
            </a:r>
          </a:p>
        </p:txBody>
      </p:sp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5050" y="1767514"/>
            <a:ext cx="17590163" cy="511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Aspect Distribution Analysis: used Python Counter to count aspect frequency and sentiment distribution.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u="none" strike="noStrike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Manual Review Sampling: used pandas to export a random sample of 100 reviews to CSV for human inspection.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u="none" strike="noStrike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LLM Consistency Audit: used an LLM verifier through the OpenAI API to check whether review text matches the assigned aspect labels.</a:t>
            </a:r>
          </a:p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endParaRPr lang="en-US" sz="3200" u="none" strike="noStrike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aphicFrame>
        <p:nvGraphicFramePr>
          <p:cNvPr id="3" name="Object 3"/>
          <p:cNvGraphicFramePr/>
          <p:nvPr/>
        </p:nvGraphicFramePr>
        <p:xfrm>
          <a:off x="1028700" y="6465541"/>
          <a:ext cx="16544793" cy="3821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850100" imgH="7124700" progId="Excel.Sheet.12">
                  <p:embed/>
                </p:oleObj>
              </mc:Choice>
              <mc:Fallback>
                <p:oleObj name="Worksheet" r:id="rId2" imgW="19850100" imgH="7124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6465541"/>
                        <a:ext cx="16544793" cy="3821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4186950" y="622445"/>
            <a:ext cx="10423634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33735" y="556330"/>
            <a:ext cx="10423634" cy="179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Uroject12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37210" y="1817761"/>
            <a:ext cx="8756100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Aspect Distribution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4" name="Freeform 4"/>
          <p:cNvSpPr/>
          <p:nvPr/>
        </p:nvSpPr>
        <p:spPr>
          <a:xfrm flipH="1" flipV="1">
            <a:off x="15011399" y="-7835"/>
            <a:ext cx="3488966" cy="2947005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5" name="Freeform 5"/>
          <p:cNvSpPr/>
          <p:nvPr/>
        </p:nvSpPr>
        <p:spPr>
          <a:xfrm rot="-10800000">
            <a:off x="-15888" y="0"/>
            <a:ext cx="1844688" cy="2253956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10374311" y="1860366"/>
            <a:ext cx="4748094" cy="48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  <a:spcBef>
                <a:spcPct val="0"/>
              </a:spcBef>
            </a:pPr>
            <a:r>
              <a:rPr lang="en-US" sz="247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Overall Sentiment Distribution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2464" y="1722189"/>
            <a:ext cx="10710859" cy="9677131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523896" y="2717238"/>
            <a:ext cx="512921" cy="43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540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54765" y="2857501"/>
            <a:ext cx="641598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516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1448" y="2939170"/>
            <a:ext cx="641598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501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89501" y="3294932"/>
            <a:ext cx="480298" cy="43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482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20473" y="3451696"/>
            <a:ext cx="516850" cy="43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480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42925" y="3629577"/>
            <a:ext cx="485299" cy="43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443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931" y="2253956"/>
            <a:ext cx="8824564" cy="68996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33735" y="556330"/>
            <a:ext cx="10423634" cy="179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Medtronic 53401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37210" y="1817761"/>
            <a:ext cx="8756100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Aspect Distribution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4" name="Freeform 4"/>
          <p:cNvSpPr/>
          <p:nvPr/>
        </p:nvSpPr>
        <p:spPr>
          <a:xfrm flipH="1" flipV="1">
            <a:off x="14924558" y="2069"/>
            <a:ext cx="3434631" cy="347770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5" name="Freeform 5"/>
          <p:cNvSpPr/>
          <p:nvPr/>
        </p:nvSpPr>
        <p:spPr>
          <a:xfrm rot="-10800000">
            <a:off x="-47938" y="-45408"/>
            <a:ext cx="1694063" cy="2200276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9568272" y="1860366"/>
            <a:ext cx="4748094" cy="48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  <a:spcBef>
                <a:spcPct val="0"/>
              </a:spcBef>
            </a:pPr>
            <a:r>
              <a:rPr lang="en-US" sz="247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Overall Sentiment Distribution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7335" y="1502520"/>
            <a:ext cx="10168729" cy="973035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646126" y="2549916"/>
            <a:ext cx="746661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470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54513" y="2549916"/>
            <a:ext cx="598078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465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66974" y="2604526"/>
            <a:ext cx="479941" cy="43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458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81399" y="2549916"/>
            <a:ext cx="598078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455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77190" y="2939171"/>
            <a:ext cx="513278" cy="43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420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04851" y="3117052"/>
            <a:ext cx="458153" cy="43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413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92103" y="4686301"/>
            <a:ext cx="699497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251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9079" y="1885503"/>
            <a:ext cx="9230251" cy="72095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30726"/>
            <a:ext cx="1728928" cy="2417289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3" name="Freeform 3"/>
          <p:cNvSpPr/>
          <p:nvPr/>
        </p:nvSpPr>
        <p:spPr>
          <a:xfrm flipH="1" flipV="1">
            <a:off x="15042535" y="-266700"/>
            <a:ext cx="3610962" cy="3458815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658138" y="4470111"/>
            <a:ext cx="9769720" cy="5666438"/>
          </a:xfrm>
          <a:custGeom>
            <a:avLst/>
            <a:gdLst/>
            <a:ahLst/>
            <a:cxnLst/>
            <a:rect l="l" t="t" r="r" b="b"/>
            <a:pathLst>
              <a:path w="9769720" h="5666438">
                <a:moveTo>
                  <a:pt x="0" y="0"/>
                </a:moveTo>
                <a:lnTo>
                  <a:pt x="9769720" y="0"/>
                </a:lnTo>
                <a:lnTo>
                  <a:pt x="9769720" y="5666438"/>
                </a:lnTo>
                <a:lnTo>
                  <a:pt x="0" y="5666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1028700" y="2654185"/>
            <a:ext cx="14225658" cy="1707079"/>
          </a:xfrm>
          <a:custGeom>
            <a:avLst/>
            <a:gdLst/>
            <a:ahLst/>
            <a:cxnLst/>
            <a:rect l="l" t="t" r="r" b="b"/>
            <a:pathLst>
              <a:path w="14225658" h="1707079">
                <a:moveTo>
                  <a:pt x="0" y="0"/>
                </a:moveTo>
                <a:lnTo>
                  <a:pt x="14225658" y="0"/>
                </a:lnTo>
                <a:lnTo>
                  <a:pt x="14225658" y="1707079"/>
                </a:lnTo>
                <a:lnTo>
                  <a:pt x="0" y="1707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4304585" y="805391"/>
            <a:ext cx="9347078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Results 1 : Uroject12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9984" y="1798876"/>
            <a:ext cx="6060954" cy="61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0167A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Overall Performance</a:t>
            </a:r>
          </a:p>
        </p:txBody>
      </p:sp>
      <p:sp>
        <p:nvSpPr>
          <p:cNvPr id="8" name="Freeform 8"/>
          <p:cNvSpPr/>
          <p:nvPr/>
        </p:nvSpPr>
        <p:spPr>
          <a:xfrm>
            <a:off x="10624699" y="4557818"/>
            <a:ext cx="7142796" cy="5491024"/>
          </a:xfrm>
          <a:custGeom>
            <a:avLst/>
            <a:gdLst/>
            <a:ahLst/>
            <a:cxnLst/>
            <a:rect l="l" t="t" r="r" b="b"/>
            <a:pathLst>
              <a:path w="7142796" h="5491024">
                <a:moveTo>
                  <a:pt x="0" y="0"/>
                </a:moveTo>
                <a:lnTo>
                  <a:pt x="7142796" y="0"/>
                </a:lnTo>
                <a:lnTo>
                  <a:pt x="7142796" y="5491024"/>
                </a:lnTo>
                <a:lnTo>
                  <a:pt x="0" y="5491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49382"/>
            <a:ext cx="2057400" cy="2449682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213266" y="-49383"/>
            <a:ext cx="3077562" cy="2993439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7475142" y="4720857"/>
            <a:ext cx="9276905" cy="5566143"/>
          </a:xfrm>
          <a:custGeom>
            <a:avLst/>
            <a:gdLst/>
            <a:ahLst/>
            <a:cxnLst/>
            <a:rect l="l" t="t" r="r" b="b"/>
            <a:pathLst>
              <a:path w="9276905" h="5566143">
                <a:moveTo>
                  <a:pt x="0" y="0"/>
                </a:moveTo>
                <a:lnTo>
                  <a:pt x="9276905" y="0"/>
                </a:lnTo>
                <a:lnTo>
                  <a:pt x="9276905" y="5566143"/>
                </a:lnTo>
                <a:lnTo>
                  <a:pt x="0" y="5566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658138" y="2700937"/>
            <a:ext cx="16327889" cy="1601945"/>
          </a:xfrm>
          <a:custGeom>
            <a:avLst/>
            <a:gdLst/>
            <a:ahLst/>
            <a:cxnLst/>
            <a:rect l="l" t="t" r="r" b="b"/>
            <a:pathLst>
              <a:path w="16327889" h="1601945">
                <a:moveTo>
                  <a:pt x="0" y="0"/>
                </a:moveTo>
                <a:lnTo>
                  <a:pt x="16327889" y="0"/>
                </a:lnTo>
                <a:lnTo>
                  <a:pt x="16327889" y="1601945"/>
                </a:lnTo>
                <a:lnTo>
                  <a:pt x="0" y="1601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357" b="-13357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4304585" y="805391"/>
            <a:ext cx="9347078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Results 1 : Uroject12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9984" y="1798876"/>
            <a:ext cx="6060954" cy="170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0167A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Per-Aspect Macro F1</a:t>
            </a:r>
          </a:p>
          <a:p>
            <a:pPr algn="l">
              <a:lnSpc>
                <a:spcPts val="4306"/>
              </a:lnSpc>
            </a:pPr>
            <a:endParaRPr lang="en-US" sz="3076" b="1">
              <a:solidFill>
                <a:srgbClr val="00167A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4306"/>
              </a:lnSpc>
            </a:pPr>
            <a:endParaRPr lang="en-US" sz="3076" b="1">
              <a:solidFill>
                <a:srgbClr val="00167A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ransition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11061"/>
            <a:ext cx="2057400" cy="2236839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016726" y="0"/>
            <a:ext cx="3458562" cy="2764839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479993" y="4621807"/>
            <a:ext cx="9769720" cy="5666438"/>
          </a:xfrm>
          <a:custGeom>
            <a:avLst/>
            <a:gdLst/>
            <a:ahLst/>
            <a:cxnLst/>
            <a:rect l="l" t="t" r="r" b="b"/>
            <a:pathLst>
              <a:path w="9769720" h="5666438">
                <a:moveTo>
                  <a:pt x="0" y="0"/>
                </a:moveTo>
                <a:lnTo>
                  <a:pt x="9769720" y="0"/>
                </a:lnTo>
                <a:lnTo>
                  <a:pt x="9769720" y="5666438"/>
                </a:lnTo>
                <a:lnTo>
                  <a:pt x="0" y="5666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1028700" y="2654185"/>
            <a:ext cx="13975736" cy="1729497"/>
          </a:xfrm>
          <a:custGeom>
            <a:avLst/>
            <a:gdLst/>
            <a:ahLst/>
            <a:cxnLst/>
            <a:rect l="l" t="t" r="r" b="b"/>
            <a:pathLst>
              <a:path w="13975736" h="1729497">
                <a:moveTo>
                  <a:pt x="0" y="0"/>
                </a:moveTo>
                <a:lnTo>
                  <a:pt x="13975736" y="0"/>
                </a:lnTo>
                <a:lnTo>
                  <a:pt x="13975736" y="1729497"/>
                </a:lnTo>
                <a:lnTo>
                  <a:pt x="0" y="17294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2835533" y="805391"/>
            <a:ext cx="10986497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Results 1 : Medtronic 53401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9984" y="1798876"/>
            <a:ext cx="6060954" cy="61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0167A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Overall Performance</a:t>
            </a:r>
          </a:p>
        </p:txBody>
      </p:sp>
      <p:sp>
        <p:nvSpPr>
          <p:cNvPr id="8" name="Freeform 8"/>
          <p:cNvSpPr/>
          <p:nvPr/>
        </p:nvSpPr>
        <p:spPr>
          <a:xfrm>
            <a:off x="10499309" y="4621807"/>
            <a:ext cx="6775278" cy="5666438"/>
          </a:xfrm>
          <a:custGeom>
            <a:avLst/>
            <a:gdLst/>
            <a:ahLst/>
            <a:cxnLst/>
            <a:rect l="l" t="t" r="r" b="b"/>
            <a:pathLst>
              <a:path w="6775278" h="5666438">
                <a:moveTo>
                  <a:pt x="0" y="0"/>
                </a:moveTo>
                <a:lnTo>
                  <a:pt x="6775278" y="0"/>
                </a:lnTo>
                <a:lnTo>
                  <a:pt x="6775278" y="5666438"/>
                </a:lnTo>
                <a:lnTo>
                  <a:pt x="0" y="56664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  <p:transition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20519"/>
            <a:ext cx="1905000" cy="2192219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452466" y="-13560"/>
            <a:ext cx="3072341" cy="264246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7479051" y="4566340"/>
            <a:ext cx="9506976" cy="5704186"/>
          </a:xfrm>
          <a:custGeom>
            <a:avLst/>
            <a:gdLst/>
            <a:ahLst/>
            <a:cxnLst/>
            <a:rect l="l" t="t" r="r" b="b"/>
            <a:pathLst>
              <a:path w="9506976" h="570418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658138" y="2455130"/>
            <a:ext cx="16831693" cy="1545575"/>
          </a:xfrm>
          <a:custGeom>
            <a:avLst/>
            <a:gdLst/>
            <a:ahLst/>
            <a:cxnLst/>
            <a:rect l="l" t="t" r="r" b="b"/>
            <a:pathLst>
              <a:path w="16831693" h="1545575">
                <a:moveTo>
                  <a:pt x="0" y="0"/>
                </a:moveTo>
                <a:lnTo>
                  <a:pt x="16831692" y="0"/>
                </a:lnTo>
                <a:lnTo>
                  <a:pt x="16831692" y="1545575"/>
                </a:lnTo>
                <a:lnTo>
                  <a:pt x="0" y="1545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320" b="-14320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2835533" y="805391"/>
            <a:ext cx="10986497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Results 1 : Medtronic 53401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9984" y="1798876"/>
            <a:ext cx="6060954" cy="1160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1" dirty="0">
                <a:solidFill>
                  <a:srgbClr val="00167A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Per-Aspect Macro F1</a:t>
            </a:r>
          </a:p>
          <a:p>
            <a:pPr algn="l">
              <a:lnSpc>
                <a:spcPts val="4306"/>
              </a:lnSpc>
            </a:pPr>
            <a:endParaRPr lang="en-US" sz="3076" b="1" dirty="0">
              <a:solidFill>
                <a:srgbClr val="00167A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ransition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27159"/>
            <a:ext cx="2641772" cy="2860565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3" name="Freeform 3"/>
          <p:cNvSpPr/>
          <p:nvPr/>
        </p:nvSpPr>
        <p:spPr>
          <a:xfrm flipH="1" flipV="1">
            <a:off x="15239999" y="-177902"/>
            <a:ext cx="3421039" cy="2578201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2835533" y="805391"/>
            <a:ext cx="11947535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Comparison Between Devices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08" y="772222"/>
            <a:ext cx="15910615" cy="1062021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395372" y="2771848"/>
            <a:ext cx="567690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95.5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85550" y="3284374"/>
            <a:ext cx="567690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89.4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87804" y="4010937"/>
            <a:ext cx="665396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78.2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1994" y="6286501"/>
            <a:ext cx="701806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40.4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6870" y="2939171"/>
            <a:ext cx="736511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89910" y="3874671"/>
            <a:ext cx="665396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76.4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96660" y="2833407"/>
            <a:ext cx="736511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93.8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96975" y="3106493"/>
            <a:ext cx="736511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90.8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16617" y="2939171"/>
            <a:ext cx="736511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92.4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54020" y="4533900"/>
            <a:ext cx="604980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68.7</a:t>
            </a:r>
          </a:p>
        </p:txBody>
      </p:sp>
    </p:spTree>
  </p:cSld>
  <p:clrMapOvr>
    <a:masterClrMapping/>
  </p:clrMapOvr>
  <p:transition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58" y="7468055"/>
            <a:ext cx="3657600" cy="3066818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331342" y="2289128"/>
            <a:ext cx="5398271" cy="739042"/>
            <a:chOff x="0" y="0"/>
            <a:chExt cx="1421767" cy="1946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1767" cy="194645"/>
            </a:xfrm>
            <a:custGeom>
              <a:avLst/>
              <a:gdLst/>
              <a:ahLst/>
              <a:cxnLst/>
              <a:rect l="l" t="t" r="r" b="b"/>
              <a:pathLst>
                <a:path w="1421767" h="194645">
                  <a:moveTo>
                    <a:pt x="73142" y="0"/>
                  </a:moveTo>
                  <a:lnTo>
                    <a:pt x="1348625" y="0"/>
                  </a:lnTo>
                  <a:cubicBezTo>
                    <a:pt x="1368024" y="0"/>
                    <a:pt x="1386627" y="7706"/>
                    <a:pt x="1400344" y="21423"/>
                  </a:cubicBezTo>
                  <a:cubicBezTo>
                    <a:pt x="1414061" y="35139"/>
                    <a:pt x="1421767" y="53743"/>
                    <a:pt x="1421767" y="73142"/>
                  </a:cubicBezTo>
                  <a:lnTo>
                    <a:pt x="1421767" y="121503"/>
                  </a:lnTo>
                  <a:cubicBezTo>
                    <a:pt x="1421767" y="161898"/>
                    <a:pt x="1389020" y="194645"/>
                    <a:pt x="1348625" y="194645"/>
                  </a:cubicBezTo>
                  <a:lnTo>
                    <a:pt x="73142" y="194645"/>
                  </a:lnTo>
                  <a:cubicBezTo>
                    <a:pt x="32747" y="194645"/>
                    <a:pt x="0" y="161898"/>
                    <a:pt x="0" y="121503"/>
                  </a:cubicBezTo>
                  <a:lnTo>
                    <a:pt x="0" y="73142"/>
                  </a:lnTo>
                  <a:cubicBezTo>
                    <a:pt x="0" y="32747"/>
                    <a:pt x="32747" y="0"/>
                    <a:pt x="73142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21767" cy="242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25996" y="2289128"/>
            <a:ext cx="4261265" cy="716093"/>
            <a:chOff x="0" y="0"/>
            <a:chExt cx="1122308" cy="1886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2308" cy="188601"/>
            </a:xfrm>
            <a:custGeom>
              <a:avLst/>
              <a:gdLst/>
              <a:ahLst/>
              <a:cxnLst/>
              <a:rect l="l" t="t" r="r" b="b"/>
              <a:pathLst>
                <a:path w="1122308" h="188601">
                  <a:moveTo>
                    <a:pt x="92657" y="0"/>
                  </a:moveTo>
                  <a:lnTo>
                    <a:pt x="1029651" y="0"/>
                  </a:lnTo>
                  <a:cubicBezTo>
                    <a:pt x="1080824" y="0"/>
                    <a:pt x="1122308" y="41484"/>
                    <a:pt x="1122308" y="92657"/>
                  </a:cubicBezTo>
                  <a:lnTo>
                    <a:pt x="1122308" y="95943"/>
                  </a:lnTo>
                  <a:cubicBezTo>
                    <a:pt x="1122308" y="147116"/>
                    <a:pt x="1080824" y="188601"/>
                    <a:pt x="1029651" y="188601"/>
                  </a:cubicBezTo>
                  <a:lnTo>
                    <a:pt x="92657" y="188601"/>
                  </a:lnTo>
                  <a:cubicBezTo>
                    <a:pt x="41484" y="188601"/>
                    <a:pt x="0" y="147116"/>
                    <a:pt x="0" y="95943"/>
                  </a:cubicBezTo>
                  <a:lnTo>
                    <a:pt x="0" y="92657"/>
                  </a:lnTo>
                  <a:cubicBezTo>
                    <a:pt x="0" y="41484"/>
                    <a:pt x="41484" y="0"/>
                    <a:pt x="92657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22308" cy="2362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30114" y="2250403"/>
            <a:ext cx="4993631" cy="793543"/>
            <a:chOff x="0" y="0"/>
            <a:chExt cx="1315195" cy="2089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15195" cy="208999"/>
            </a:xfrm>
            <a:custGeom>
              <a:avLst/>
              <a:gdLst/>
              <a:ahLst/>
              <a:cxnLst/>
              <a:rect l="l" t="t" r="r" b="b"/>
              <a:pathLst>
                <a:path w="1315195" h="208999">
                  <a:moveTo>
                    <a:pt x="79068" y="0"/>
                  </a:moveTo>
                  <a:lnTo>
                    <a:pt x="1236127" y="0"/>
                  </a:lnTo>
                  <a:cubicBezTo>
                    <a:pt x="1257097" y="0"/>
                    <a:pt x="1277208" y="8330"/>
                    <a:pt x="1292036" y="23159"/>
                  </a:cubicBezTo>
                  <a:cubicBezTo>
                    <a:pt x="1306865" y="37987"/>
                    <a:pt x="1315195" y="58098"/>
                    <a:pt x="1315195" y="79068"/>
                  </a:cubicBezTo>
                  <a:lnTo>
                    <a:pt x="1315195" y="129931"/>
                  </a:lnTo>
                  <a:cubicBezTo>
                    <a:pt x="1315195" y="150901"/>
                    <a:pt x="1306865" y="171012"/>
                    <a:pt x="1292036" y="185840"/>
                  </a:cubicBezTo>
                  <a:cubicBezTo>
                    <a:pt x="1277208" y="200669"/>
                    <a:pt x="1257097" y="208999"/>
                    <a:pt x="1236127" y="208999"/>
                  </a:cubicBezTo>
                  <a:lnTo>
                    <a:pt x="79068" y="208999"/>
                  </a:lnTo>
                  <a:cubicBezTo>
                    <a:pt x="58098" y="208999"/>
                    <a:pt x="37987" y="200669"/>
                    <a:pt x="23159" y="185840"/>
                  </a:cubicBezTo>
                  <a:cubicBezTo>
                    <a:pt x="8330" y="171012"/>
                    <a:pt x="0" y="150901"/>
                    <a:pt x="0" y="129931"/>
                  </a:cubicBezTo>
                  <a:lnTo>
                    <a:pt x="0" y="79068"/>
                  </a:lnTo>
                  <a:cubicBezTo>
                    <a:pt x="0" y="58098"/>
                    <a:pt x="8330" y="37987"/>
                    <a:pt x="23159" y="23159"/>
                  </a:cubicBezTo>
                  <a:cubicBezTo>
                    <a:pt x="37987" y="8330"/>
                    <a:pt x="58098" y="0"/>
                    <a:pt x="79068" y="0"/>
                  </a:cubicBezTo>
                  <a:close/>
                </a:path>
              </a:pathLst>
            </a:custGeom>
            <a:solidFill>
              <a:srgbClr val="BED9FD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315195" cy="256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\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446017" y="2300796"/>
            <a:ext cx="4775183" cy="196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176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Fine-Tuning Strategy</a:t>
            </a:r>
          </a:p>
          <a:p>
            <a:pPr algn="l">
              <a:lnSpc>
                <a:spcPts val="3467"/>
              </a:lnSpc>
            </a:pPr>
            <a:endParaRPr lang="en-US" sz="3176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3467"/>
              </a:lnSpc>
            </a:pPr>
            <a:endParaRPr lang="en-US" sz="3176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3467"/>
              </a:lnSpc>
            </a:pPr>
            <a:endParaRPr lang="en-US" sz="3176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14272" y="3250738"/>
            <a:ext cx="5734749" cy="571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Loss Function: Mean Squared Error (MSE)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Learning Rate: 1e-5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Batch Size: 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Epochs: 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Weight Decay: 0.01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Maximum Sequence Length: 256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Hidden Dropout: 0.1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Attention Dropout: 0.1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Classifier Dropout: 0.1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Dynamic Padding (DataCollatorWithPadding)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Early Stopping (Patience = 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" sz="2476" dirty="0">
                <a:solidFill>
                  <a:srgbClr val="000000"/>
                </a:solidFill>
                <a:latin typeface="Agrandir"/>
              </a:rPr>
              <a:t>Best Model Selection using Validation</a:t>
            </a:r>
            <a:r>
              <a:rPr lang="" dirty="0"/>
              <a:t> </a:t>
            </a:r>
            <a:r>
              <a:rPr lang="" sz="2476" dirty="0">
                <a:solidFill>
                  <a:srgbClr val="000000"/>
                </a:solidFill>
                <a:latin typeface="Agrandir"/>
              </a:rPr>
              <a:t>Loss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59002" y="3238030"/>
            <a:ext cx="6071112" cy="399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Start from the validated synthetic review dataset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Split into Train / Validation / Test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Fine-tune </a:t>
            </a:r>
            <a:r>
              <a:rPr lang="en-US" sz="2476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RoBERTa</a:t>
            </a:r>
            <a:endParaRPr lang="en-US" sz="2476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Input: review text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Output: continuous aspect-score </a:t>
            </a:r>
          </a:p>
          <a:p>
            <a:pPr algn="l">
              <a:lnSpc>
                <a:spcPts val="3467"/>
              </a:lnSpc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    vector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Task: multi-output regression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Evaluate model performance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75244" y="495543"/>
            <a:ext cx="12337512" cy="179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Model Architecture DeBERTa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51872" y="2262071"/>
            <a:ext cx="5032254" cy="109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17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Why DeBERTa-v3-small?</a:t>
            </a:r>
          </a:p>
          <a:p>
            <a:pPr algn="l">
              <a:lnSpc>
                <a:spcPts val="3467"/>
              </a:lnSpc>
            </a:pPr>
            <a:endParaRPr lang="en-US" sz="3176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0" y="3250738"/>
            <a:ext cx="6060954" cy="399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Advanced transformer architecture with disentangled attention.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Improved contextual understanding compared to RoBERTa.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Efficient performance with fewer parameters.</a:t>
            </a:r>
          </a:p>
          <a:p>
            <a:pPr marL="534662" lvl="1" indent="-267331" algn="l">
              <a:lnSpc>
                <a:spcPts val="3467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Well suited for aspect-based sentiment analysis in medical reviews.</a:t>
            </a:r>
          </a:p>
          <a:p>
            <a:pPr algn="l">
              <a:lnSpc>
                <a:spcPts val="3467"/>
              </a:lnSpc>
            </a:pPr>
            <a:endParaRPr lang="en-US" sz="2476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15685" y="2300796"/>
            <a:ext cx="3381525" cy="109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17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Training Process</a:t>
            </a:r>
          </a:p>
          <a:p>
            <a:pPr algn="l">
              <a:lnSpc>
                <a:spcPts val="3467"/>
              </a:lnSpc>
            </a:pPr>
            <a:endParaRPr lang="en-US" sz="3176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ransition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7126" y="0"/>
            <a:ext cx="2293126" cy="2129922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271135" y="-35642"/>
            <a:ext cx="3153762" cy="3069639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287923" y="2129922"/>
            <a:ext cx="13859816" cy="2186391"/>
          </a:xfrm>
          <a:custGeom>
            <a:avLst/>
            <a:gdLst/>
            <a:ahLst/>
            <a:cxnLst/>
            <a:rect l="l" t="t" r="r" b="b"/>
            <a:pathLst>
              <a:path w="13859816" h="2186391">
                <a:moveTo>
                  <a:pt x="0" y="0"/>
                </a:moveTo>
                <a:lnTo>
                  <a:pt x="13859815" y="0"/>
                </a:lnTo>
                <a:lnTo>
                  <a:pt x="13859815" y="2186390"/>
                </a:lnTo>
                <a:lnTo>
                  <a:pt x="0" y="2186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10427858" y="4150121"/>
            <a:ext cx="7240593" cy="5830251"/>
          </a:xfrm>
          <a:custGeom>
            <a:avLst/>
            <a:gdLst/>
            <a:ahLst/>
            <a:cxnLst/>
            <a:rect l="l" t="t" r="r" b="b"/>
            <a:pathLst>
              <a:path w="7240593" h="5830251">
                <a:moveTo>
                  <a:pt x="0" y="0"/>
                </a:moveTo>
                <a:lnTo>
                  <a:pt x="7240593" y="0"/>
                </a:lnTo>
                <a:lnTo>
                  <a:pt x="7240593" y="5830252"/>
                </a:lnTo>
                <a:lnTo>
                  <a:pt x="0" y="58302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Freeform 6"/>
          <p:cNvSpPr/>
          <p:nvPr/>
        </p:nvSpPr>
        <p:spPr>
          <a:xfrm>
            <a:off x="658138" y="4554437"/>
            <a:ext cx="9506976" cy="5704186"/>
          </a:xfrm>
          <a:custGeom>
            <a:avLst/>
            <a:gdLst/>
            <a:ahLst/>
            <a:cxnLst/>
            <a:rect l="l" t="t" r="r" b="b"/>
            <a:pathLst>
              <a:path w="9506976" h="570418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7" name="TextBox 7"/>
          <p:cNvSpPr txBox="1"/>
          <p:nvPr/>
        </p:nvSpPr>
        <p:spPr>
          <a:xfrm>
            <a:off x="4304585" y="805391"/>
            <a:ext cx="9347078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Results 2 : Uroject12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9984" y="1798876"/>
            <a:ext cx="6060954" cy="61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0167A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Overall Performance</a:t>
            </a:r>
          </a:p>
        </p:txBody>
      </p:sp>
    </p:spTree>
  </p:cSld>
  <p:clrMapOvr>
    <a:masterClrMapping/>
  </p:clrMapOvr>
  <p:transition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13460"/>
            <a:ext cx="2209800" cy="2301228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563131" y="149853"/>
            <a:ext cx="2628900" cy="2632255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028700" y="2287769"/>
            <a:ext cx="15723347" cy="2083343"/>
          </a:xfrm>
          <a:custGeom>
            <a:avLst/>
            <a:gdLst/>
            <a:ahLst/>
            <a:cxnLst/>
            <a:rect l="l" t="t" r="r" b="b"/>
            <a:pathLst>
              <a:path w="15723347" h="2083343">
                <a:moveTo>
                  <a:pt x="0" y="0"/>
                </a:moveTo>
                <a:lnTo>
                  <a:pt x="15723347" y="0"/>
                </a:lnTo>
                <a:lnTo>
                  <a:pt x="15723347" y="2083344"/>
                </a:lnTo>
                <a:lnTo>
                  <a:pt x="0" y="20833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7884757" y="4371113"/>
            <a:ext cx="9638533" cy="5783120"/>
          </a:xfrm>
          <a:custGeom>
            <a:avLst/>
            <a:gdLst/>
            <a:ahLst/>
            <a:cxnLst/>
            <a:rect l="l" t="t" r="r" b="b"/>
            <a:pathLst>
              <a:path w="9638533" h="5783120">
                <a:moveTo>
                  <a:pt x="0" y="0"/>
                </a:moveTo>
                <a:lnTo>
                  <a:pt x="9638533" y="0"/>
                </a:lnTo>
                <a:lnTo>
                  <a:pt x="9638533" y="5783120"/>
                </a:lnTo>
                <a:lnTo>
                  <a:pt x="0" y="578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4304585" y="805391"/>
            <a:ext cx="9347078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Results 2 : Uroject12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9984" y="1798876"/>
            <a:ext cx="6060954" cy="170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0167A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Per-Aspect Macro F1</a:t>
            </a:r>
          </a:p>
          <a:p>
            <a:pPr algn="l">
              <a:lnSpc>
                <a:spcPts val="4306"/>
              </a:lnSpc>
            </a:pPr>
            <a:endParaRPr lang="en-US" sz="3076" b="1">
              <a:solidFill>
                <a:srgbClr val="00167A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4306"/>
              </a:lnSpc>
            </a:pPr>
            <a:endParaRPr lang="en-US" sz="3076" b="1">
              <a:solidFill>
                <a:srgbClr val="00167A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ransition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24218"/>
            <a:ext cx="2286000" cy="2197587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452467" y="0"/>
            <a:ext cx="3010530" cy="278130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028700" y="2457677"/>
            <a:ext cx="14574717" cy="2197588"/>
          </a:xfrm>
          <a:custGeom>
            <a:avLst/>
            <a:gdLst/>
            <a:ahLst/>
            <a:cxnLst/>
            <a:rect l="l" t="t" r="r" b="b"/>
            <a:pathLst>
              <a:path w="14574717" h="2197588">
                <a:moveTo>
                  <a:pt x="0" y="0"/>
                </a:moveTo>
                <a:lnTo>
                  <a:pt x="14574717" y="0"/>
                </a:lnTo>
                <a:lnTo>
                  <a:pt x="14574717" y="2197588"/>
                </a:lnTo>
                <a:lnTo>
                  <a:pt x="0" y="2197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044" b="-16044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10804099" y="4621807"/>
            <a:ext cx="6868563" cy="5391289"/>
          </a:xfrm>
          <a:custGeom>
            <a:avLst/>
            <a:gdLst/>
            <a:ahLst/>
            <a:cxnLst/>
            <a:rect l="l" t="t" r="r" b="b"/>
            <a:pathLst>
              <a:path w="6868563" h="5391289">
                <a:moveTo>
                  <a:pt x="0" y="0"/>
                </a:moveTo>
                <a:lnTo>
                  <a:pt x="6868563" y="0"/>
                </a:lnTo>
                <a:lnTo>
                  <a:pt x="6868563" y="5391288"/>
                </a:lnTo>
                <a:lnTo>
                  <a:pt x="0" y="5391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Freeform 6"/>
          <p:cNvSpPr/>
          <p:nvPr/>
        </p:nvSpPr>
        <p:spPr>
          <a:xfrm>
            <a:off x="801991" y="4621807"/>
            <a:ext cx="9506976" cy="5704186"/>
          </a:xfrm>
          <a:custGeom>
            <a:avLst/>
            <a:gdLst/>
            <a:ahLst/>
            <a:cxnLst/>
            <a:rect l="l" t="t" r="r" b="b"/>
            <a:pathLst>
              <a:path w="9506976" h="5704186">
                <a:moveTo>
                  <a:pt x="0" y="0"/>
                </a:moveTo>
                <a:lnTo>
                  <a:pt x="9506976" y="0"/>
                </a:lnTo>
                <a:lnTo>
                  <a:pt x="9506976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7" name="TextBox 7"/>
          <p:cNvSpPr txBox="1"/>
          <p:nvPr/>
        </p:nvSpPr>
        <p:spPr>
          <a:xfrm>
            <a:off x="2835533" y="805391"/>
            <a:ext cx="10986497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Results 2 : Medtronic 53401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9984" y="1798876"/>
            <a:ext cx="6060954" cy="61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0167A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Overall Performance</a:t>
            </a:r>
          </a:p>
        </p:txBody>
      </p:sp>
    </p:spTree>
  </p:cSld>
  <p:clrMapOvr>
    <a:masterClrMapping/>
  </p:clrMapOvr>
  <p:transition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47950" y="0"/>
            <a:ext cx="2638749" cy="2247900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528641" y="127537"/>
            <a:ext cx="2638750" cy="2750944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8041237" y="4566340"/>
            <a:ext cx="9534433" cy="5720660"/>
          </a:xfrm>
          <a:custGeom>
            <a:avLst/>
            <a:gdLst/>
            <a:ahLst/>
            <a:cxnLst/>
            <a:rect l="l" t="t" r="r" b="b"/>
            <a:pathLst>
              <a:path w="9534433" h="5720660">
                <a:moveTo>
                  <a:pt x="0" y="0"/>
                </a:moveTo>
                <a:lnTo>
                  <a:pt x="9534433" y="0"/>
                </a:lnTo>
                <a:lnTo>
                  <a:pt x="9534433" y="5720660"/>
                </a:lnTo>
                <a:lnTo>
                  <a:pt x="0" y="5720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737800" y="2455130"/>
            <a:ext cx="16837871" cy="1700950"/>
          </a:xfrm>
          <a:custGeom>
            <a:avLst/>
            <a:gdLst/>
            <a:ahLst/>
            <a:cxnLst/>
            <a:rect l="l" t="t" r="r" b="b"/>
            <a:pathLst>
              <a:path w="16837871" h="1700950">
                <a:moveTo>
                  <a:pt x="0" y="0"/>
                </a:moveTo>
                <a:lnTo>
                  <a:pt x="16837870" y="0"/>
                </a:lnTo>
                <a:lnTo>
                  <a:pt x="16837870" y="1700950"/>
                </a:lnTo>
                <a:lnTo>
                  <a:pt x="0" y="1700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344" b="-14344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2835533" y="805391"/>
            <a:ext cx="10986497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Results 2 : Medtronic 53401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9984" y="1798876"/>
            <a:ext cx="6060954" cy="1160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0167A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Per-Aspect Macro F1</a:t>
            </a:r>
          </a:p>
          <a:p>
            <a:pPr algn="l">
              <a:lnSpc>
                <a:spcPts val="4306"/>
              </a:lnSpc>
            </a:pPr>
            <a:endParaRPr lang="en-US" sz="3076" b="1">
              <a:solidFill>
                <a:srgbClr val="00167A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ransition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33184"/>
            <a:ext cx="2641772" cy="2709514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016330" y="47311"/>
            <a:ext cx="3401277" cy="3135669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2835533" y="805391"/>
            <a:ext cx="11947535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Comparison Between Devices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08" y="772222"/>
            <a:ext cx="15910615" cy="1062021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389061" y="2676330"/>
            <a:ext cx="702115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96.2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84002" y="3106494"/>
            <a:ext cx="800546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90.7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30889" y="3843615"/>
            <a:ext cx="669322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79.9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6518" y="5905500"/>
            <a:ext cx="544882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46.5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63540" y="2939171"/>
            <a:ext cx="672931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94.1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80347" y="3945467"/>
            <a:ext cx="669323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79.4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71505" y="2676330"/>
            <a:ext cx="702116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96.5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04894" y="2939171"/>
            <a:ext cx="715706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92.6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20844" y="3106493"/>
            <a:ext cx="552926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91.9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68128" y="4283035"/>
            <a:ext cx="514939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72.1</a:t>
            </a:r>
          </a:p>
        </p:txBody>
      </p:sp>
    </p:spTree>
  </p:cSld>
  <p:clrMapOvr>
    <a:masterClrMapping/>
  </p:clrMapOvr>
  <p:transition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39063" y="-18047"/>
            <a:ext cx="2506195" cy="2554636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15316200" y="26606"/>
            <a:ext cx="3153762" cy="337309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2835533" y="805391"/>
            <a:ext cx="11947535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Comparison Between Models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9F18D087-FA4D-CCC6-597E-CBF89A30CA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900" y="2095500"/>
            <a:ext cx="14020800" cy="7536180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8338" y="-33184"/>
            <a:ext cx="2429995" cy="2679409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16559533" y="7538932"/>
            <a:ext cx="1701428" cy="2748068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 flipH="1" flipV="1">
            <a:off x="14827834" y="-20894"/>
            <a:ext cx="3720365" cy="2871469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3028903" y="585262"/>
            <a:ext cx="11658911" cy="267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Project Achievements &amp; Novelty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58138" y="3121797"/>
            <a:ext cx="15751962" cy="287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Built an automated PDF to ABSA pipeline.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Generated and validated high quality synthetic review datasets.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Trained RoBERTa and DeBERTa models for aspect level sentiment prediction.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Demonstrated the approach on two different medical devices.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410586"/>
            <a:ext cx="5219700" cy="543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u="none" strike="noStrike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Achievements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6660" y="5850392"/>
            <a:ext cx="2013740" cy="1120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</a:t>
            </a:r>
            <a:r>
              <a:rPr lang="en-US" sz="3200" b="1" u="none" strike="noStrike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ovelty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b="1" u="none" strike="noStrike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2011" y="6682889"/>
            <a:ext cx="12846368" cy="343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Automatic aspect extraction from medical device PDFs.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Synthetic review generation with sentiment and nuance control.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Automated consistency validation.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End to end PDF to aspect-scoring pipeline.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Comparative evaluation of transformer architectures.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u="none" strike="noStrike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p:transition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81564" y="0"/>
            <a:ext cx="1757963" cy="2328514"/>
          </a:xfrm>
          <a:custGeom>
            <a:avLst/>
            <a:gdLst/>
            <a:ahLst/>
            <a:cxnLst/>
            <a:rect l="l" t="t" r="r" b="b"/>
            <a:pathLst>
              <a:path w="2630862" h="3705440">
                <a:moveTo>
                  <a:pt x="0" y="0"/>
                </a:moveTo>
                <a:lnTo>
                  <a:pt x="2630862" y="0"/>
                </a:lnTo>
                <a:lnTo>
                  <a:pt x="2630862" y="3705440"/>
                </a:lnTo>
                <a:lnTo>
                  <a:pt x="0" y="3705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16564449" y="7471335"/>
            <a:ext cx="1701428" cy="2824268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22123" y="6896100"/>
            <a:ext cx="3711677" cy="339090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 flipH="1" flipV="1">
            <a:off x="15908401" y="68336"/>
            <a:ext cx="2498033" cy="2260177"/>
          </a:xfrm>
          <a:custGeom>
            <a:avLst/>
            <a:gdLst/>
            <a:ahLst/>
            <a:cxnLst/>
            <a:rect l="l" t="t" r="r" b="b"/>
            <a:pathLst>
              <a:path w="3890309" h="4100457">
                <a:moveTo>
                  <a:pt x="3890308" y="4100457"/>
                </a:moveTo>
                <a:lnTo>
                  <a:pt x="0" y="4100457"/>
                </a:lnTo>
                <a:lnTo>
                  <a:pt x="0" y="0"/>
                </a:lnTo>
                <a:lnTo>
                  <a:pt x="3890308" y="0"/>
                </a:lnTo>
                <a:lnTo>
                  <a:pt x="3890308" y="4100457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4118862" y="179533"/>
            <a:ext cx="9347078" cy="179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Conclusions</a:t>
            </a:r>
          </a:p>
          <a:p>
            <a:pPr algn="ctr">
              <a:lnSpc>
                <a:spcPts val="6986"/>
              </a:lnSpc>
            </a:pPr>
            <a:endParaRPr lang="en-US" sz="6590">
              <a:solidFill>
                <a:srgbClr val="00357A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76102" y="746762"/>
            <a:ext cx="15535796" cy="784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endParaRPr dirty="0"/>
          </a:p>
          <a:p>
            <a:pPr marL="681399" lvl="1" indent="-340700" algn="l">
              <a:lnSpc>
                <a:spcPts val="4418"/>
              </a:lnSpc>
              <a:buFont typeface="Arial"/>
              <a:buChar char="•"/>
            </a:pPr>
            <a:r>
              <a:rPr lang="en-US" sz="3156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RoBERTa</a:t>
            </a:r>
            <a:r>
              <a:rPr lang="en-US" sz="315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learned the connection between review text and aspect scores.</a:t>
            </a:r>
          </a:p>
          <a:p>
            <a:pPr marL="681399" lvl="1" indent="-340700" algn="l">
              <a:lnSpc>
                <a:spcPts val="4418"/>
              </a:lnSpc>
              <a:buFont typeface="Arial"/>
              <a:buChar char="•"/>
            </a:pPr>
            <a:r>
              <a:rPr lang="en-US" sz="3156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DeBERTa</a:t>
            </a:r>
            <a:r>
              <a:rPr lang="en-US" sz="315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achieved stronger overall performance than </a:t>
            </a:r>
            <a:r>
              <a:rPr lang="en-US" sz="3156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RoBERTa</a:t>
            </a:r>
            <a:r>
              <a:rPr lang="en-US" sz="315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across most evaluation metrics.</a:t>
            </a:r>
          </a:p>
          <a:p>
            <a:pPr marL="681399" lvl="1" indent="-340700" algn="l">
              <a:lnSpc>
                <a:spcPts val="4418"/>
              </a:lnSpc>
              <a:buFont typeface="Arial"/>
              <a:buChar char="•"/>
            </a:pPr>
            <a:r>
              <a:rPr lang="en-US" sz="315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Main errors were between mentioned and not mentioned, not positive vs. negative.</a:t>
            </a:r>
          </a:p>
          <a:p>
            <a:pPr marL="681399" lvl="1" indent="-340700" algn="l">
              <a:lnSpc>
                <a:spcPts val="4418"/>
              </a:lnSpc>
              <a:buFont typeface="Arial"/>
              <a:buChar char="•"/>
            </a:pPr>
            <a:r>
              <a:rPr lang="en-US" sz="315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Clear aspects were easier to learn than broad or technical aspects.</a:t>
            </a:r>
          </a:p>
          <a:p>
            <a:pPr marL="681399" lvl="1" indent="-340700" algn="l">
              <a:lnSpc>
                <a:spcPts val="4418"/>
              </a:lnSpc>
              <a:buFont typeface="Arial"/>
              <a:buChar char="•"/>
            </a:pPr>
            <a:r>
              <a:rPr lang="en-US" sz="315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second device showed the pipeline is generic, but performance depends on aspect quality.</a:t>
            </a:r>
          </a:p>
          <a:p>
            <a:pPr marL="681399" lvl="1" indent="-340700" algn="l">
              <a:lnSpc>
                <a:spcPts val="4418"/>
              </a:lnSpc>
              <a:buFont typeface="Arial"/>
              <a:buChar char="•"/>
            </a:pPr>
            <a:r>
              <a:rPr lang="en-US" sz="315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proposed pipeline generalized successfully across two different medical device domains.</a:t>
            </a:r>
          </a:p>
          <a:p>
            <a:pPr marL="681399" lvl="1" indent="-340700" algn="l">
              <a:lnSpc>
                <a:spcPts val="4418"/>
              </a:lnSpc>
              <a:buFont typeface="Arial"/>
              <a:buChar char="•"/>
            </a:pPr>
            <a:r>
              <a:rPr lang="en-US" sz="315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Real world generalization still requires testing on real reviews.</a:t>
            </a:r>
          </a:p>
          <a:p>
            <a:pPr algn="l">
              <a:lnSpc>
                <a:spcPts val="4418"/>
              </a:lnSpc>
            </a:pPr>
            <a:endParaRPr lang="en-US" sz="3156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4418"/>
              </a:lnSpc>
            </a:pPr>
            <a:endParaRPr lang="en-US" sz="3156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p:transition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18263" y="-1"/>
            <a:ext cx="2151863" cy="2455605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16891372" y="7782290"/>
            <a:ext cx="1396628" cy="2595668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3692" y="7243056"/>
            <a:ext cx="2619663" cy="3435378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 flipH="1" flipV="1">
            <a:off x="15544800" y="-159850"/>
            <a:ext cx="3001361" cy="3000178"/>
          </a:xfrm>
          <a:custGeom>
            <a:avLst/>
            <a:gdLst/>
            <a:ahLst/>
            <a:cxnLst/>
            <a:rect l="l" t="t" r="r" b="b"/>
            <a:pathLst>
              <a:path w="4323582" h="4557136">
                <a:moveTo>
                  <a:pt x="4323582" y="4557136"/>
                </a:moveTo>
                <a:lnTo>
                  <a:pt x="0" y="4557136"/>
                </a:lnTo>
                <a:lnTo>
                  <a:pt x="0" y="0"/>
                </a:lnTo>
                <a:lnTo>
                  <a:pt x="4323582" y="0"/>
                </a:lnTo>
                <a:lnTo>
                  <a:pt x="4323582" y="4557136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2633355" y="432479"/>
            <a:ext cx="13021291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Future Work &amp; Lessons Learned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049298"/>
            <a:ext cx="15751962" cy="287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endParaRPr/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Evaluate the model on real-world reviews.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Improve aspect extraction to create clearer and less overlapping aspects.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8968" y="4777893"/>
            <a:ext cx="17259300" cy="287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Synthetic data is useful only when supported by strong quality checks.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Task formulation matters: Multi-Output Aspect Scoring fit our dataset better than classical ABSA.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Clear, distinct aspects are easier to learn than overlapping or highly technical aspects.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u="none" strike="noStrike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53121" y="1980080"/>
            <a:ext cx="2975866" cy="543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Future 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53121" y="4189336"/>
            <a:ext cx="4033279" cy="543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Lessons Learned</a:t>
            </a:r>
          </a:p>
        </p:txBody>
      </p:sp>
    </p:spTree>
  </p:cSld>
  <p:clrMapOvr>
    <a:masterClrMapping/>
  </p:clrMapOvr>
  <p:transition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12290" y="-35642"/>
            <a:ext cx="2963395" cy="3090514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16028145" y="7129916"/>
            <a:ext cx="2259855" cy="3182894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29497" y="6362700"/>
            <a:ext cx="4009103" cy="43782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5" name="Freeform 5"/>
          <p:cNvSpPr/>
          <p:nvPr/>
        </p:nvSpPr>
        <p:spPr>
          <a:xfrm flipH="1" flipV="1">
            <a:off x="14796719" y="8603"/>
            <a:ext cx="3729869" cy="3255805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6" name="TextBox 6"/>
          <p:cNvSpPr txBox="1"/>
          <p:nvPr/>
        </p:nvSpPr>
        <p:spPr>
          <a:xfrm>
            <a:off x="4470461" y="3897962"/>
            <a:ext cx="9347078" cy="1389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5"/>
              </a:lnSpc>
            </a:pPr>
            <a:r>
              <a:rPr lang="en-US" sz="100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1177</Words>
  <Application>Microsoft Office PowerPoint</Application>
  <PresentationFormat>מותאם אישית</PresentationFormat>
  <Paragraphs>235</Paragraphs>
  <Slides>31</Slides>
  <Notes>0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31</vt:i4>
      </vt:variant>
    </vt:vector>
  </HeadingPairs>
  <TitlesOfParts>
    <vt:vector size="39" baseType="lpstr">
      <vt:lpstr>Arial</vt:lpstr>
      <vt:lpstr>Arimo</vt:lpstr>
      <vt:lpstr>Agrandir</vt:lpstr>
      <vt:lpstr>Fredoka</vt:lpstr>
      <vt:lpstr>Agrandir Bold</vt:lpstr>
      <vt:lpstr>Calibri</vt:lpstr>
      <vt:lpstr>Office Theme</vt:lpstr>
      <vt:lpstr>Worksheet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עיבוד שפה טבעית- Final</dc:title>
  <cp:lastModifiedBy>Adi Caduri</cp:lastModifiedBy>
  <cp:revision>4</cp:revision>
  <dcterms:created xsi:type="dcterms:W3CDTF">2006-08-16T00:00:00Z</dcterms:created>
  <dcterms:modified xsi:type="dcterms:W3CDTF">2026-06-24T10:42:22Z</dcterms:modified>
  <dc:identifier>DAHL0M0ERpI</dc:identifier>
</cp:coreProperties>
</file>