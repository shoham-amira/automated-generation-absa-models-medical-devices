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Agrandir" panose="020B0604020202020204" charset="0"/>
      <p:regular r:id="rId14"/>
    </p:embeddedFont>
    <p:embeddedFont>
      <p:font typeface="Agrandir Bold" panose="020B0604020202020204" charset="0"/>
      <p:regular r:id="rId15"/>
    </p:embeddedFont>
    <p:embeddedFont>
      <p:font typeface="Arimo" panose="020B0604020202020204" charset="0"/>
      <p:regular r:id="rId16"/>
    </p:embeddedFont>
    <p:embeddedFont>
      <p:font typeface="Arimo Bold" panose="020B0604020202020204" charset="0"/>
      <p:regular r:id="rId17"/>
    </p:embeddedFont>
    <p:embeddedFont>
      <p:font typeface="Fredoka"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hyperlink" Target="https://pubmed.ncbi.nlm.nih.gov/40417506/" TargetMode="External"/><Relationship Id="rId2" Type="http://schemas.openxmlformats.org/officeDocument/2006/relationships/hyperlink" Target="https://pubmed.ncbi.nlm.nih.gov/40096682/" TargetMode="External"/><Relationship Id="rId1" Type="http://schemas.openxmlformats.org/officeDocument/2006/relationships/slideLayout" Target="../slideLayouts/slideLayout7.xml"/><Relationship Id="rId4" Type="http://schemas.openxmlformats.org/officeDocument/2006/relationships/hyperlink" Target="https://pubmed.ncbi.nlm.nih.gov/39464796/"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 y="-3"/>
            <a:ext cx="2146070" cy="3043947"/>
          </a:xfrm>
          <a:custGeom>
            <a:avLst/>
            <a:gdLst/>
            <a:ahLst/>
            <a:cxnLst/>
            <a:rect l="l" t="t" r="r" b="b"/>
            <a:pathLst>
              <a:path w="2975865" h="4191359">
                <a:moveTo>
                  <a:pt x="0" y="0"/>
                </a:moveTo>
                <a:lnTo>
                  <a:pt x="2975865" y="0"/>
                </a:lnTo>
                <a:lnTo>
                  <a:pt x="2975865" y="4191360"/>
                </a:lnTo>
                <a:lnTo>
                  <a:pt x="0" y="419136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LID4096"/>
          </a:p>
        </p:txBody>
      </p:sp>
      <p:sp>
        <p:nvSpPr>
          <p:cNvPr id="3" name="Freeform 3"/>
          <p:cNvSpPr/>
          <p:nvPr/>
        </p:nvSpPr>
        <p:spPr>
          <a:xfrm rot="-10800000" flipH="1">
            <a:off x="16028145" y="7177016"/>
            <a:ext cx="2259855" cy="3182894"/>
          </a:xfrm>
          <a:custGeom>
            <a:avLst/>
            <a:gdLst/>
            <a:ahLst/>
            <a:cxnLst/>
            <a:rect l="l" t="t" r="r" b="b"/>
            <a:pathLst>
              <a:path w="2259855" h="3182894">
                <a:moveTo>
                  <a:pt x="2259854" y="0"/>
                </a:moveTo>
                <a:lnTo>
                  <a:pt x="0" y="0"/>
                </a:lnTo>
                <a:lnTo>
                  <a:pt x="0" y="3182894"/>
                </a:lnTo>
                <a:lnTo>
                  <a:pt x="2259854" y="3182894"/>
                </a:lnTo>
                <a:lnTo>
                  <a:pt x="225985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LID4096"/>
          </a:p>
        </p:txBody>
      </p:sp>
      <p:sp>
        <p:nvSpPr>
          <p:cNvPr id="4" name="Freeform 4"/>
          <p:cNvSpPr/>
          <p:nvPr/>
        </p:nvSpPr>
        <p:spPr>
          <a:xfrm>
            <a:off x="-19666" y="6332856"/>
            <a:ext cx="4556321" cy="4060238"/>
          </a:xfrm>
          <a:custGeom>
            <a:avLst/>
            <a:gdLst/>
            <a:ahLst/>
            <a:cxnLst/>
            <a:rect l="l" t="t" r="r" b="b"/>
            <a:pathLst>
              <a:path w="4949069" h="5216410">
                <a:moveTo>
                  <a:pt x="0" y="0"/>
                </a:moveTo>
                <a:lnTo>
                  <a:pt x="4949069" y="0"/>
                </a:lnTo>
                <a:lnTo>
                  <a:pt x="4949069" y="5216410"/>
                </a:lnTo>
                <a:lnTo>
                  <a:pt x="0" y="5216410"/>
                </a:lnTo>
                <a:lnTo>
                  <a:pt x="0" y="0"/>
                </a:lnTo>
                <a:close/>
              </a:path>
            </a:pathLst>
          </a:custGeom>
          <a:blipFill>
            <a:blip>
              <a:alphaModFix amt="41000"/>
              <a:extLst>
                <a:ext uri="{96DAC541-7B7A-43D3-8B79-37D633B846F1}">
                  <asvg:svgBlip xmlns:asvg="http://schemas.microsoft.com/office/drawing/2016/SVG/main" r:embed="rId4"/>
                </a:ext>
              </a:extLst>
            </a:blip>
            <a:stretch>
              <a:fillRect/>
            </a:stretch>
          </a:blipFill>
        </p:spPr>
        <p:txBody>
          <a:bodyPr/>
          <a:lstStyle/>
          <a:p>
            <a:endParaRPr lang="LID4096"/>
          </a:p>
        </p:txBody>
      </p:sp>
      <p:sp>
        <p:nvSpPr>
          <p:cNvPr id="5" name="Freeform 5"/>
          <p:cNvSpPr/>
          <p:nvPr/>
        </p:nvSpPr>
        <p:spPr>
          <a:xfrm>
            <a:off x="13817539" y="0"/>
            <a:ext cx="4165661" cy="3043946"/>
          </a:xfrm>
          <a:custGeom>
            <a:avLst/>
            <a:gdLst/>
            <a:ahLst/>
            <a:cxnLst/>
            <a:rect l="l" t="t" r="r" b="b"/>
            <a:pathLst>
              <a:path w="5034028" h="3563413">
                <a:moveTo>
                  <a:pt x="0" y="0"/>
                </a:moveTo>
                <a:lnTo>
                  <a:pt x="5034028" y="0"/>
                </a:lnTo>
                <a:lnTo>
                  <a:pt x="5034028" y="3563413"/>
                </a:lnTo>
                <a:lnTo>
                  <a:pt x="0" y="3563413"/>
                </a:lnTo>
                <a:lnTo>
                  <a:pt x="0" y="0"/>
                </a:lnTo>
                <a:close/>
              </a:path>
            </a:pathLst>
          </a:custGeom>
          <a:blipFill>
            <a:blip r:embed="rId5"/>
            <a:stretch>
              <a:fillRect/>
            </a:stretch>
          </a:blipFill>
        </p:spPr>
        <p:txBody>
          <a:bodyPr/>
          <a:lstStyle/>
          <a:p>
            <a:endParaRPr lang="LID4096"/>
          </a:p>
        </p:txBody>
      </p:sp>
      <p:sp>
        <p:nvSpPr>
          <p:cNvPr id="6" name="TextBox 6"/>
          <p:cNvSpPr txBox="1"/>
          <p:nvPr/>
        </p:nvSpPr>
        <p:spPr>
          <a:xfrm>
            <a:off x="4470461" y="1043516"/>
            <a:ext cx="9347078" cy="907760"/>
          </a:xfrm>
          <a:prstGeom prst="rect">
            <a:avLst/>
          </a:prstGeom>
        </p:spPr>
        <p:txBody>
          <a:bodyPr lIns="0" tIns="0" rIns="0" bIns="0" rtlCol="0" anchor="t">
            <a:spAutoFit/>
          </a:bodyPr>
          <a:lstStyle/>
          <a:p>
            <a:pPr algn="ctr">
              <a:lnSpc>
                <a:spcPts val="6986"/>
              </a:lnSpc>
            </a:pPr>
            <a:r>
              <a:rPr lang="en-US" sz="6590">
                <a:solidFill>
                  <a:srgbClr val="00357A"/>
                </a:solidFill>
                <a:latin typeface="Fredoka"/>
                <a:ea typeface="Fredoka"/>
                <a:cs typeface="Fredoka"/>
                <a:sym typeface="Fredoka"/>
              </a:rPr>
              <a:t>LLM PROJECT</a:t>
            </a:r>
          </a:p>
        </p:txBody>
      </p:sp>
      <p:sp>
        <p:nvSpPr>
          <p:cNvPr id="7" name="TextBox 7"/>
          <p:cNvSpPr txBox="1"/>
          <p:nvPr/>
        </p:nvSpPr>
        <p:spPr>
          <a:xfrm>
            <a:off x="3642190" y="6794051"/>
            <a:ext cx="9352900" cy="675640"/>
          </a:xfrm>
          <a:prstGeom prst="rect">
            <a:avLst/>
          </a:prstGeom>
        </p:spPr>
        <p:txBody>
          <a:bodyPr lIns="0" tIns="0" rIns="0" bIns="0" rtlCol="0" anchor="t">
            <a:spAutoFit/>
          </a:bodyPr>
          <a:lstStyle/>
          <a:p>
            <a:pPr algn="l">
              <a:lnSpc>
                <a:spcPts val="4759"/>
              </a:lnSpc>
            </a:pPr>
            <a:r>
              <a:rPr lang="en-US" sz="3399" b="1">
                <a:solidFill>
                  <a:srgbClr val="000000"/>
                </a:solidFill>
                <a:latin typeface="Agrandir Bold"/>
                <a:ea typeface="Agrandir Bold"/>
                <a:cs typeface="Agrandir Bold"/>
                <a:sym typeface="Agrandir Bold"/>
              </a:rPr>
              <a:t>Students:</a:t>
            </a:r>
            <a:r>
              <a:rPr lang="en-US" sz="3399">
                <a:solidFill>
                  <a:srgbClr val="000000"/>
                </a:solidFill>
                <a:latin typeface="Agrandir"/>
                <a:ea typeface="Agrandir"/>
                <a:cs typeface="Agrandir"/>
                <a:sym typeface="Agrandir"/>
              </a:rPr>
              <a:t> Shoham Rachel Amira &amp; Adi Malka</a:t>
            </a:r>
          </a:p>
        </p:txBody>
      </p:sp>
      <p:sp>
        <p:nvSpPr>
          <p:cNvPr id="8" name="TextBox 8"/>
          <p:cNvSpPr txBox="1"/>
          <p:nvPr/>
        </p:nvSpPr>
        <p:spPr>
          <a:xfrm>
            <a:off x="2377157" y="2902056"/>
            <a:ext cx="13533686" cy="2480020"/>
          </a:xfrm>
          <a:prstGeom prst="rect">
            <a:avLst/>
          </a:prstGeom>
        </p:spPr>
        <p:txBody>
          <a:bodyPr lIns="0" tIns="0" rIns="0" bIns="0" rtlCol="0" anchor="t">
            <a:spAutoFit/>
          </a:bodyPr>
          <a:lstStyle/>
          <a:p>
            <a:pPr algn="ctr" rtl="1">
              <a:lnSpc>
                <a:spcPts val="6456"/>
              </a:lnSpc>
            </a:pPr>
            <a:r>
              <a:rPr lang="en-US" sz="6090">
                <a:solidFill>
                  <a:srgbClr val="00357A"/>
                </a:solidFill>
                <a:latin typeface="Fredoka"/>
                <a:ea typeface="Fredoka"/>
                <a:cs typeface="Fredoka"/>
                <a:sym typeface="Fredoka"/>
              </a:rPr>
              <a:t>SYNTHETIC DATA GENERATION PIPELINE FOR MEDICAL ABSA</a:t>
            </a:r>
          </a:p>
          <a:p>
            <a:pPr algn="ctr" rtl="1">
              <a:lnSpc>
                <a:spcPts val="6456"/>
              </a:lnSpc>
            </a:pPr>
            <a:endParaRPr lang="en-US" sz="6090">
              <a:solidFill>
                <a:srgbClr val="00357A"/>
              </a:solidFill>
              <a:latin typeface="Fredoka"/>
              <a:ea typeface="Fredoka"/>
              <a:cs typeface="Fredoka"/>
              <a:sym typeface="Fredoka"/>
            </a:endParaRPr>
          </a:p>
        </p:txBody>
      </p:sp>
      <p:sp>
        <p:nvSpPr>
          <p:cNvPr id="9" name="TextBox 9"/>
          <p:cNvSpPr txBox="1"/>
          <p:nvPr/>
        </p:nvSpPr>
        <p:spPr>
          <a:xfrm>
            <a:off x="3642190" y="6085206"/>
            <a:ext cx="7151940" cy="675640"/>
          </a:xfrm>
          <a:prstGeom prst="rect">
            <a:avLst/>
          </a:prstGeom>
        </p:spPr>
        <p:txBody>
          <a:bodyPr lIns="0" tIns="0" rIns="0" bIns="0" rtlCol="0" anchor="t">
            <a:spAutoFit/>
          </a:bodyPr>
          <a:lstStyle/>
          <a:p>
            <a:pPr algn="l">
              <a:lnSpc>
                <a:spcPts val="4759"/>
              </a:lnSpc>
            </a:pPr>
            <a:r>
              <a:rPr lang="en-US" sz="3399" b="1">
                <a:solidFill>
                  <a:srgbClr val="000000"/>
                </a:solidFill>
                <a:latin typeface="Agrandir Bold"/>
                <a:ea typeface="Agrandir Bold"/>
                <a:cs typeface="Agrandir Bold"/>
                <a:sym typeface="Agrandir Bold"/>
              </a:rPr>
              <a:t>Lecturer: </a:t>
            </a:r>
            <a:r>
              <a:rPr lang="en-US" sz="3399">
                <a:solidFill>
                  <a:srgbClr val="000000"/>
                </a:solidFill>
                <a:latin typeface="Agrandir"/>
                <a:ea typeface="Agrandir"/>
                <a:cs typeface="Agrandir"/>
                <a:sym typeface="Agrandir"/>
              </a:rPr>
              <a:t>Dr. Aparcin Alexander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7374" y="0"/>
            <a:ext cx="1972795" cy="3395314"/>
          </a:xfrm>
          <a:custGeom>
            <a:avLst/>
            <a:gdLst/>
            <a:ahLst/>
            <a:cxnLst/>
            <a:rect l="l" t="t" r="r" b="b"/>
            <a:pathLst>
              <a:path w="2975865" h="4191359">
                <a:moveTo>
                  <a:pt x="0" y="0"/>
                </a:moveTo>
                <a:lnTo>
                  <a:pt x="2975865" y="0"/>
                </a:lnTo>
                <a:lnTo>
                  <a:pt x="2975865" y="4191360"/>
                </a:lnTo>
                <a:lnTo>
                  <a:pt x="0" y="419136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LID4096"/>
          </a:p>
        </p:txBody>
      </p:sp>
      <p:sp>
        <p:nvSpPr>
          <p:cNvPr id="3" name="Freeform 3"/>
          <p:cNvSpPr/>
          <p:nvPr/>
        </p:nvSpPr>
        <p:spPr>
          <a:xfrm rot="-10800000" flipH="1">
            <a:off x="16154400" y="7549662"/>
            <a:ext cx="2099187" cy="2748399"/>
          </a:xfrm>
          <a:custGeom>
            <a:avLst/>
            <a:gdLst/>
            <a:ahLst/>
            <a:cxnLst/>
            <a:rect l="l" t="t" r="r" b="b"/>
            <a:pathLst>
              <a:path w="2259855" h="3182894">
                <a:moveTo>
                  <a:pt x="2259854" y="0"/>
                </a:moveTo>
                <a:lnTo>
                  <a:pt x="0" y="0"/>
                </a:lnTo>
                <a:lnTo>
                  <a:pt x="0" y="3182894"/>
                </a:lnTo>
                <a:lnTo>
                  <a:pt x="2259854" y="3182894"/>
                </a:lnTo>
                <a:lnTo>
                  <a:pt x="225985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LID4096"/>
          </a:p>
        </p:txBody>
      </p:sp>
      <p:sp>
        <p:nvSpPr>
          <p:cNvPr id="4" name="Freeform 4"/>
          <p:cNvSpPr/>
          <p:nvPr/>
        </p:nvSpPr>
        <p:spPr>
          <a:xfrm>
            <a:off x="-19096" y="6273033"/>
            <a:ext cx="3268044" cy="4141905"/>
          </a:xfrm>
          <a:custGeom>
            <a:avLst/>
            <a:gdLst/>
            <a:ahLst/>
            <a:cxnLst/>
            <a:rect l="l" t="t" r="r" b="b"/>
            <a:pathLst>
              <a:path w="4949069" h="5216410">
                <a:moveTo>
                  <a:pt x="0" y="0"/>
                </a:moveTo>
                <a:lnTo>
                  <a:pt x="4949069" y="0"/>
                </a:lnTo>
                <a:lnTo>
                  <a:pt x="4949069" y="5216409"/>
                </a:lnTo>
                <a:lnTo>
                  <a:pt x="0" y="5216409"/>
                </a:lnTo>
                <a:lnTo>
                  <a:pt x="0" y="0"/>
                </a:lnTo>
                <a:close/>
              </a:path>
            </a:pathLst>
          </a:custGeom>
          <a:blipFill>
            <a:blip>
              <a:alphaModFix amt="41000"/>
              <a:extLst>
                <a:ext uri="{96DAC541-7B7A-43D3-8B79-37D633B846F1}">
                  <asvg:svgBlip xmlns:asvg="http://schemas.microsoft.com/office/drawing/2016/SVG/main" r:embed="rId4"/>
                </a:ext>
              </a:extLst>
            </a:blip>
            <a:stretch>
              <a:fillRect/>
            </a:stretch>
          </a:blipFill>
        </p:spPr>
        <p:txBody>
          <a:bodyPr/>
          <a:lstStyle/>
          <a:p>
            <a:endParaRPr lang="LID4096"/>
          </a:p>
        </p:txBody>
      </p:sp>
      <p:sp>
        <p:nvSpPr>
          <p:cNvPr id="5" name="Freeform 5"/>
          <p:cNvSpPr/>
          <p:nvPr/>
        </p:nvSpPr>
        <p:spPr>
          <a:xfrm flipH="1" flipV="1">
            <a:off x="15429271" y="0"/>
            <a:ext cx="2935376" cy="3395314"/>
          </a:xfrm>
          <a:custGeom>
            <a:avLst/>
            <a:gdLst/>
            <a:ahLst/>
            <a:cxnLst/>
            <a:rect l="l" t="t" r="r" b="b"/>
            <a:pathLst>
              <a:path w="4949069" h="5216410">
                <a:moveTo>
                  <a:pt x="4949068" y="5216410"/>
                </a:moveTo>
                <a:lnTo>
                  <a:pt x="0" y="5216410"/>
                </a:lnTo>
                <a:lnTo>
                  <a:pt x="0" y="0"/>
                </a:lnTo>
                <a:lnTo>
                  <a:pt x="4949068" y="0"/>
                </a:lnTo>
                <a:lnTo>
                  <a:pt x="4949068" y="5216410"/>
                </a:lnTo>
                <a:close/>
              </a:path>
            </a:pathLst>
          </a:custGeom>
          <a:blipFill>
            <a:blip>
              <a:alphaModFix amt="41000"/>
              <a:extLst>
                <a:ext uri="{96DAC541-7B7A-43D3-8B79-37D633B846F1}">
                  <asvg:svgBlip xmlns:asvg="http://schemas.microsoft.com/office/drawing/2016/SVG/main" r:embed="rId4"/>
                </a:ext>
              </a:extLst>
            </a:blip>
            <a:stretch>
              <a:fillRect/>
            </a:stretch>
          </a:blipFill>
        </p:spPr>
        <p:txBody>
          <a:bodyPr/>
          <a:lstStyle/>
          <a:p>
            <a:endParaRPr lang="LID4096"/>
          </a:p>
        </p:txBody>
      </p:sp>
      <p:sp>
        <p:nvSpPr>
          <p:cNvPr id="6" name="Freeform 6"/>
          <p:cNvSpPr/>
          <p:nvPr/>
        </p:nvSpPr>
        <p:spPr>
          <a:xfrm>
            <a:off x="4527092" y="5143500"/>
            <a:ext cx="9290447" cy="3202509"/>
          </a:xfrm>
          <a:custGeom>
            <a:avLst/>
            <a:gdLst/>
            <a:ahLst/>
            <a:cxnLst/>
            <a:rect l="l" t="t" r="r" b="b"/>
            <a:pathLst>
              <a:path w="9290447" h="3202509">
                <a:moveTo>
                  <a:pt x="0" y="0"/>
                </a:moveTo>
                <a:lnTo>
                  <a:pt x="9290447" y="0"/>
                </a:lnTo>
                <a:lnTo>
                  <a:pt x="9290447" y="3202509"/>
                </a:lnTo>
                <a:lnTo>
                  <a:pt x="0" y="3202509"/>
                </a:lnTo>
                <a:lnTo>
                  <a:pt x="0" y="0"/>
                </a:lnTo>
                <a:close/>
              </a:path>
            </a:pathLst>
          </a:custGeom>
          <a:blipFill>
            <a:blip r:embed="rId5"/>
            <a:stretch>
              <a:fillRect/>
            </a:stretch>
          </a:blipFill>
        </p:spPr>
        <p:txBody>
          <a:bodyPr/>
          <a:lstStyle/>
          <a:p>
            <a:endParaRPr lang="LID4096"/>
          </a:p>
        </p:txBody>
      </p:sp>
      <p:sp>
        <p:nvSpPr>
          <p:cNvPr id="7" name="TextBox 7"/>
          <p:cNvSpPr txBox="1"/>
          <p:nvPr/>
        </p:nvSpPr>
        <p:spPr>
          <a:xfrm>
            <a:off x="4470461" y="1123950"/>
            <a:ext cx="9347078" cy="907760"/>
          </a:xfrm>
          <a:prstGeom prst="rect">
            <a:avLst/>
          </a:prstGeom>
        </p:spPr>
        <p:txBody>
          <a:bodyPr lIns="0" tIns="0" rIns="0" bIns="0" rtlCol="0" anchor="t">
            <a:spAutoFit/>
          </a:bodyPr>
          <a:lstStyle/>
          <a:p>
            <a:pPr algn="ctr">
              <a:lnSpc>
                <a:spcPts val="6986"/>
              </a:lnSpc>
            </a:pPr>
            <a:r>
              <a:rPr lang="en-US" sz="6590">
                <a:solidFill>
                  <a:srgbClr val="00357A"/>
                </a:solidFill>
                <a:latin typeface="Fredoka"/>
                <a:ea typeface="Fredoka"/>
                <a:cs typeface="Fredoka"/>
                <a:sym typeface="Fredoka"/>
              </a:rPr>
              <a:t>Background</a:t>
            </a:r>
          </a:p>
        </p:txBody>
      </p:sp>
      <p:sp>
        <p:nvSpPr>
          <p:cNvPr id="8" name="TextBox 8"/>
          <p:cNvSpPr txBox="1"/>
          <p:nvPr/>
        </p:nvSpPr>
        <p:spPr>
          <a:xfrm>
            <a:off x="1614926" y="2901071"/>
            <a:ext cx="15871546" cy="1747520"/>
          </a:xfrm>
          <a:prstGeom prst="rect">
            <a:avLst/>
          </a:prstGeom>
        </p:spPr>
        <p:txBody>
          <a:bodyPr lIns="0" tIns="0" rIns="0" bIns="0" rtlCol="0" anchor="t">
            <a:spAutoFit/>
          </a:bodyPr>
          <a:lstStyle/>
          <a:p>
            <a:pPr marL="0" lvl="0" indent="0" algn="ctr">
              <a:lnSpc>
                <a:spcPts val="4480"/>
              </a:lnSpc>
              <a:spcBef>
                <a:spcPct val="0"/>
              </a:spcBef>
            </a:pPr>
            <a:r>
              <a:rPr lang="en-US" sz="3200" u="none" strike="noStrike">
                <a:solidFill>
                  <a:srgbClr val="000000"/>
                </a:solidFill>
                <a:latin typeface="Agrandir"/>
                <a:ea typeface="Agrandir"/>
                <a:cs typeface="Agrandir"/>
                <a:sym typeface="Agrandir"/>
              </a:rPr>
              <a:t>This project focuses on building an LLM-based model that analyzes patient reviews about the Uroject12 syringe device and identifies whether different aspects of the experience are described positively or negatively.</a:t>
            </a:r>
          </a:p>
        </p:txBody>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76201" y="-52155"/>
            <a:ext cx="2222270" cy="3096099"/>
          </a:xfrm>
          <a:custGeom>
            <a:avLst/>
            <a:gdLst/>
            <a:ahLst/>
            <a:cxnLst/>
            <a:rect l="l" t="t" r="r" b="b"/>
            <a:pathLst>
              <a:path w="2975865" h="4191359">
                <a:moveTo>
                  <a:pt x="0" y="0"/>
                </a:moveTo>
                <a:lnTo>
                  <a:pt x="2975865" y="0"/>
                </a:lnTo>
                <a:lnTo>
                  <a:pt x="2975865" y="4191360"/>
                </a:lnTo>
                <a:lnTo>
                  <a:pt x="0" y="419136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LID4096"/>
          </a:p>
        </p:txBody>
      </p:sp>
      <p:sp>
        <p:nvSpPr>
          <p:cNvPr id="3" name="Freeform 3"/>
          <p:cNvSpPr/>
          <p:nvPr/>
        </p:nvSpPr>
        <p:spPr>
          <a:xfrm flipH="1" flipV="1">
            <a:off x="14791109" y="-72797"/>
            <a:ext cx="3776507" cy="3556471"/>
          </a:xfrm>
          <a:custGeom>
            <a:avLst/>
            <a:gdLst/>
            <a:ahLst/>
            <a:cxnLst/>
            <a:rect l="l" t="t" r="r" b="b"/>
            <a:pathLst>
              <a:path w="4949069" h="5216410">
                <a:moveTo>
                  <a:pt x="4949068" y="5216410"/>
                </a:moveTo>
                <a:lnTo>
                  <a:pt x="0" y="5216410"/>
                </a:lnTo>
                <a:lnTo>
                  <a:pt x="0" y="0"/>
                </a:lnTo>
                <a:lnTo>
                  <a:pt x="4949068" y="0"/>
                </a:lnTo>
                <a:lnTo>
                  <a:pt x="4949068" y="521641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4" name="Group 4"/>
          <p:cNvGrpSpPr/>
          <p:nvPr/>
        </p:nvGrpSpPr>
        <p:grpSpPr>
          <a:xfrm>
            <a:off x="262136" y="2975271"/>
            <a:ext cx="8116312" cy="3096097"/>
            <a:chOff x="0" y="0"/>
            <a:chExt cx="2137630" cy="815433"/>
          </a:xfrm>
        </p:grpSpPr>
        <p:sp>
          <p:nvSpPr>
            <p:cNvPr id="5" name="Freeform 5"/>
            <p:cNvSpPr/>
            <p:nvPr/>
          </p:nvSpPr>
          <p:spPr>
            <a:xfrm>
              <a:off x="0" y="0"/>
              <a:ext cx="2137630" cy="815433"/>
            </a:xfrm>
            <a:custGeom>
              <a:avLst/>
              <a:gdLst/>
              <a:ahLst/>
              <a:cxnLst/>
              <a:rect l="l" t="t" r="r" b="b"/>
              <a:pathLst>
                <a:path w="2137630" h="815433">
                  <a:moveTo>
                    <a:pt x="48647" y="0"/>
                  </a:moveTo>
                  <a:lnTo>
                    <a:pt x="2088982" y="0"/>
                  </a:lnTo>
                  <a:cubicBezTo>
                    <a:pt x="2101884" y="0"/>
                    <a:pt x="2114258" y="5125"/>
                    <a:pt x="2123381" y="14249"/>
                  </a:cubicBezTo>
                  <a:cubicBezTo>
                    <a:pt x="2132504" y="23372"/>
                    <a:pt x="2137630" y="35745"/>
                    <a:pt x="2137630" y="48647"/>
                  </a:cubicBezTo>
                  <a:lnTo>
                    <a:pt x="2137630" y="766786"/>
                  </a:lnTo>
                  <a:cubicBezTo>
                    <a:pt x="2137630" y="779688"/>
                    <a:pt x="2132504" y="792061"/>
                    <a:pt x="2123381" y="801184"/>
                  </a:cubicBezTo>
                  <a:cubicBezTo>
                    <a:pt x="2114258" y="810308"/>
                    <a:pt x="2101884" y="815433"/>
                    <a:pt x="2088982" y="815433"/>
                  </a:cubicBezTo>
                  <a:lnTo>
                    <a:pt x="48647" y="815433"/>
                  </a:lnTo>
                  <a:cubicBezTo>
                    <a:pt x="21780" y="815433"/>
                    <a:pt x="0" y="793653"/>
                    <a:pt x="0" y="766786"/>
                  </a:cubicBezTo>
                  <a:lnTo>
                    <a:pt x="0" y="48647"/>
                  </a:lnTo>
                  <a:cubicBezTo>
                    <a:pt x="0" y="35745"/>
                    <a:pt x="5125" y="23372"/>
                    <a:pt x="14249" y="14249"/>
                  </a:cubicBezTo>
                  <a:cubicBezTo>
                    <a:pt x="23372" y="5125"/>
                    <a:pt x="35745" y="0"/>
                    <a:pt x="48647" y="0"/>
                  </a:cubicBezTo>
                  <a:close/>
                </a:path>
              </a:pathLst>
            </a:custGeom>
            <a:solidFill>
              <a:srgbClr val="BED9FD"/>
            </a:solidFill>
          </p:spPr>
          <p:txBody>
            <a:bodyPr/>
            <a:lstStyle/>
            <a:p>
              <a:endParaRPr lang="LID4096"/>
            </a:p>
          </p:txBody>
        </p:sp>
        <p:sp>
          <p:nvSpPr>
            <p:cNvPr id="6" name="TextBox 6"/>
            <p:cNvSpPr txBox="1"/>
            <p:nvPr/>
          </p:nvSpPr>
          <p:spPr>
            <a:xfrm>
              <a:off x="0" y="-47625"/>
              <a:ext cx="2137630" cy="863058"/>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3161759" y="622445"/>
            <a:ext cx="10433379" cy="907760"/>
          </a:xfrm>
          <a:prstGeom prst="rect">
            <a:avLst/>
          </a:prstGeom>
        </p:spPr>
        <p:txBody>
          <a:bodyPr lIns="0" tIns="0" rIns="0" bIns="0" rtlCol="0" anchor="t">
            <a:spAutoFit/>
          </a:bodyPr>
          <a:lstStyle/>
          <a:p>
            <a:pPr algn="ctr">
              <a:lnSpc>
                <a:spcPts val="6986"/>
              </a:lnSpc>
            </a:pPr>
            <a:r>
              <a:rPr lang="en-US" sz="6590">
                <a:solidFill>
                  <a:srgbClr val="00357A"/>
                </a:solidFill>
                <a:latin typeface="Fredoka"/>
                <a:ea typeface="Fredoka"/>
                <a:cs typeface="Fredoka"/>
                <a:sym typeface="Fredoka"/>
              </a:rPr>
              <a:t>Problem Definition</a:t>
            </a:r>
          </a:p>
        </p:txBody>
      </p:sp>
      <p:sp>
        <p:nvSpPr>
          <p:cNvPr id="8" name="TextBox 8"/>
          <p:cNvSpPr txBox="1"/>
          <p:nvPr/>
        </p:nvSpPr>
        <p:spPr>
          <a:xfrm>
            <a:off x="2371805" y="2351702"/>
            <a:ext cx="2703668" cy="623570"/>
          </a:xfrm>
          <a:prstGeom prst="rect">
            <a:avLst/>
          </a:prstGeom>
        </p:spPr>
        <p:txBody>
          <a:bodyPr lIns="0" tIns="0" rIns="0" bIns="0" rtlCol="0" anchor="t">
            <a:spAutoFit/>
          </a:bodyPr>
          <a:lstStyle/>
          <a:p>
            <a:pPr algn="ctr">
              <a:lnSpc>
                <a:spcPts val="4480"/>
              </a:lnSpc>
            </a:pPr>
            <a:r>
              <a:rPr lang="en-US" sz="3200" b="1">
                <a:solidFill>
                  <a:srgbClr val="000000"/>
                </a:solidFill>
                <a:latin typeface="Agrandir Bold"/>
                <a:ea typeface="Agrandir Bold"/>
                <a:cs typeface="Agrandir Bold"/>
                <a:sym typeface="Agrandir Bold"/>
              </a:rPr>
              <a:t>motivation</a:t>
            </a:r>
          </a:p>
        </p:txBody>
      </p:sp>
      <p:sp>
        <p:nvSpPr>
          <p:cNvPr id="9" name="TextBox 9"/>
          <p:cNvSpPr txBox="1"/>
          <p:nvPr/>
        </p:nvSpPr>
        <p:spPr>
          <a:xfrm>
            <a:off x="11200198" y="2245125"/>
            <a:ext cx="4446784" cy="1747520"/>
          </a:xfrm>
          <a:prstGeom prst="rect">
            <a:avLst/>
          </a:prstGeom>
        </p:spPr>
        <p:txBody>
          <a:bodyPr lIns="0" tIns="0" rIns="0" bIns="0" rtlCol="0" anchor="t">
            <a:spAutoFit/>
          </a:bodyPr>
          <a:lstStyle/>
          <a:p>
            <a:pPr algn="ctr">
              <a:lnSpc>
                <a:spcPts val="4480"/>
              </a:lnSpc>
            </a:pPr>
            <a:r>
              <a:rPr lang="en-US" sz="3200" b="1">
                <a:solidFill>
                  <a:srgbClr val="000000"/>
                </a:solidFill>
                <a:latin typeface="Agrandir Bold"/>
                <a:ea typeface="Agrandir Bold"/>
                <a:cs typeface="Agrandir Bold"/>
                <a:sym typeface="Agrandir Bold"/>
              </a:rPr>
              <a:t>Why is it important?</a:t>
            </a:r>
          </a:p>
          <a:p>
            <a:pPr algn="ctr">
              <a:lnSpc>
                <a:spcPts val="4480"/>
              </a:lnSpc>
            </a:pPr>
            <a:endParaRPr lang="en-US" sz="3200" b="1">
              <a:solidFill>
                <a:srgbClr val="000000"/>
              </a:solidFill>
              <a:latin typeface="Agrandir Bold"/>
              <a:ea typeface="Agrandir Bold"/>
              <a:cs typeface="Agrandir Bold"/>
              <a:sym typeface="Agrandir Bold"/>
            </a:endParaRPr>
          </a:p>
          <a:p>
            <a:pPr algn="ctr">
              <a:lnSpc>
                <a:spcPts val="4480"/>
              </a:lnSpc>
            </a:pPr>
            <a:endParaRPr lang="en-US" sz="3200" b="1">
              <a:solidFill>
                <a:srgbClr val="000000"/>
              </a:solidFill>
              <a:latin typeface="Agrandir Bold"/>
              <a:ea typeface="Agrandir Bold"/>
              <a:cs typeface="Agrandir Bold"/>
              <a:sym typeface="Agrandir Bold"/>
            </a:endParaRPr>
          </a:p>
        </p:txBody>
      </p:sp>
      <p:sp>
        <p:nvSpPr>
          <p:cNvPr id="10" name="TextBox 10"/>
          <p:cNvSpPr txBox="1"/>
          <p:nvPr/>
        </p:nvSpPr>
        <p:spPr>
          <a:xfrm>
            <a:off x="2371805" y="6491786"/>
            <a:ext cx="3086443" cy="1747520"/>
          </a:xfrm>
          <a:prstGeom prst="rect">
            <a:avLst/>
          </a:prstGeom>
        </p:spPr>
        <p:txBody>
          <a:bodyPr lIns="0" tIns="0" rIns="0" bIns="0" rtlCol="0" anchor="t">
            <a:spAutoFit/>
          </a:bodyPr>
          <a:lstStyle/>
          <a:p>
            <a:pPr algn="ctr">
              <a:lnSpc>
                <a:spcPts val="4480"/>
              </a:lnSpc>
            </a:pPr>
            <a:r>
              <a:rPr lang="en-US" sz="3200" b="1">
                <a:solidFill>
                  <a:srgbClr val="000000"/>
                </a:solidFill>
                <a:latin typeface="Agrandir Bold"/>
                <a:ea typeface="Agrandir Bold"/>
                <a:cs typeface="Agrandir Bold"/>
                <a:sym typeface="Agrandir Bold"/>
              </a:rPr>
              <a:t>Main challenge</a:t>
            </a:r>
          </a:p>
          <a:p>
            <a:pPr algn="ctr">
              <a:lnSpc>
                <a:spcPts val="4480"/>
              </a:lnSpc>
            </a:pPr>
            <a:endParaRPr lang="en-US" sz="3200" b="1">
              <a:solidFill>
                <a:srgbClr val="000000"/>
              </a:solidFill>
              <a:latin typeface="Agrandir Bold"/>
              <a:ea typeface="Agrandir Bold"/>
              <a:cs typeface="Agrandir Bold"/>
              <a:sym typeface="Agrandir Bold"/>
            </a:endParaRPr>
          </a:p>
          <a:p>
            <a:pPr algn="ctr">
              <a:lnSpc>
                <a:spcPts val="4480"/>
              </a:lnSpc>
            </a:pPr>
            <a:endParaRPr lang="en-US" sz="3200" b="1">
              <a:solidFill>
                <a:srgbClr val="000000"/>
              </a:solidFill>
              <a:latin typeface="Agrandir Bold"/>
              <a:ea typeface="Agrandir Bold"/>
              <a:cs typeface="Agrandir Bold"/>
              <a:sym typeface="Agrandir Bold"/>
            </a:endParaRPr>
          </a:p>
        </p:txBody>
      </p:sp>
      <p:grpSp>
        <p:nvGrpSpPr>
          <p:cNvPr id="11" name="Group 11"/>
          <p:cNvGrpSpPr/>
          <p:nvPr/>
        </p:nvGrpSpPr>
        <p:grpSpPr>
          <a:xfrm>
            <a:off x="10293904" y="2912672"/>
            <a:ext cx="6072003" cy="3158696"/>
            <a:chOff x="0" y="0"/>
            <a:chExt cx="1599211" cy="831920"/>
          </a:xfrm>
        </p:grpSpPr>
        <p:sp>
          <p:nvSpPr>
            <p:cNvPr id="12" name="Freeform 12"/>
            <p:cNvSpPr/>
            <p:nvPr/>
          </p:nvSpPr>
          <p:spPr>
            <a:xfrm>
              <a:off x="0" y="0"/>
              <a:ext cx="1599211" cy="831920"/>
            </a:xfrm>
            <a:custGeom>
              <a:avLst/>
              <a:gdLst/>
              <a:ahLst/>
              <a:cxnLst/>
              <a:rect l="l" t="t" r="r" b="b"/>
              <a:pathLst>
                <a:path w="1599211" h="831920">
                  <a:moveTo>
                    <a:pt x="65026" y="0"/>
                  </a:moveTo>
                  <a:lnTo>
                    <a:pt x="1534185" y="0"/>
                  </a:lnTo>
                  <a:cubicBezTo>
                    <a:pt x="1551431" y="0"/>
                    <a:pt x="1567970" y="6851"/>
                    <a:pt x="1580165" y="19046"/>
                  </a:cubicBezTo>
                  <a:cubicBezTo>
                    <a:pt x="1592360" y="31240"/>
                    <a:pt x="1599211" y="47780"/>
                    <a:pt x="1599211" y="65026"/>
                  </a:cubicBezTo>
                  <a:lnTo>
                    <a:pt x="1599211" y="766894"/>
                  </a:lnTo>
                  <a:cubicBezTo>
                    <a:pt x="1599211" y="784140"/>
                    <a:pt x="1592360" y="800680"/>
                    <a:pt x="1580165" y="812874"/>
                  </a:cubicBezTo>
                  <a:cubicBezTo>
                    <a:pt x="1567970" y="825069"/>
                    <a:pt x="1551431" y="831920"/>
                    <a:pt x="1534185" y="831920"/>
                  </a:cubicBezTo>
                  <a:lnTo>
                    <a:pt x="65026" y="831920"/>
                  </a:lnTo>
                  <a:cubicBezTo>
                    <a:pt x="47780" y="831920"/>
                    <a:pt x="31240" y="825069"/>
                    <a:pt x="19046" y="812874"/>
                  </a:cubicBezTo>
                  <a:cubicBezTo>
                    <a:pt x="6851" y="800680"/>
                    <a:pt x="0" y="784140"/>
                    <a:pt x="0" y="766894"/>
                  </a:cubicBezTo>
                  <a:lnTo>
                    <a:pt x="0" y="65026"/>
                  </a:lnTo>
                  <a:cubicBezTo>
                    <a:pt x="0" y="47780"/>
                    <a:pt x="6851" y="31240"/>
                    <a:pt x="19046" y="19046"/>
                  </a:cubicBezTo>
                  <a:cubicBezTo>
                    <a:pt x="31240" y="6851"/>
                    <a:pt x="47780" y="0"/>
                    <a:pt x="65026" y="0"/>
                  </a:cubicBezTo>
                  <a:close/>
                </a:path>
              </a:pathLst>
            </a:custGeom>
            <a:solidFill>
              <a:srgbClr val="BED9FD"/>
            </a:solidFill>
          </p:spPr>
          <p:txBody>
            <a:bodyPr/>
            <a:lstStyle/>
            <a:p>
              <a:endParaRPr lang="LID4096"/>
            </a:p>
          </p:txBody>
        </p:sp>
        <p:sp>
          <p:nvSpPr>
            <p:cNvPr id="13" name="TextBox 13"/>
            <p:cNvSpPr txBox="1"/>
            <p:nvPr/>
          </p:nvSpPr>
          <p:spPr>
            <a:xfrm>
              <a:off x="0" y="-47625"/>
              <a:ext cx="1599211" cy="879545"/>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10607360" y="3202022"/>
            <a:ext cx="5301551" cy="2529099"/>
          </a:xfrm>
          <a:prstGeom prst="rect">
            <a:avLst/>
          </a:prstGeom>
        </p:spPr>
        <p:txBody>
          <a:bodyPr lIns="0" tIns="0" rIns="0" bIns="0" rtlCol="0" anchor="t">
            <a:spAutoFit/>
          </a:bodyPr>
          <a:lstStyle/>
          <a:p>
            <a:pPr algn="ctr">
              <a:lnSpc>
                <a:spcPts val="3925"/>
              </a:lnSpc>
            </a:pPr>
            <a:r>
              <a:rPr lang="en-US" sz="2804">
                <a:solidFill>
                  <a:srgbClr val="00167A"/>
                </a:solidFill>
                <a:latin typeface="Agrandir"/>
                <a:ea typeface="Agrandir"/>
                <a:cs typeface="Agrandir"/>
                <a:sym typeface="Agrandir"/>
              </a:rPr>
              <a:t>Patient feedback can provide valuable insights about usability, comfort, safety, and overall satisfaction with medical devices.</a:t>
            </a:r>
          </a:p>
        </p:txBody>
      </p:sp>
      <p:grpSp>
        <p:nvGrpSpPr>
          <p:cNvPr id="15" name="Group 15"/>
          <p:cNvGrpSpPr/>
          <p:nvPr/>
        </p:nvGrpSpPr>
        <p:grpSpPr>
          <a:xfrm>
            <a:off x="423580" y="7093296"/>
            <a:ext cx="7954869" cy="2940408"/>
            <a:chOff x="0" y="0"/>
            <a:chExt cx="2095109" cy="774429"/>
          </a:xfrm>
        </p:grpSpPr>
        <p:sp>
          <p:nvSpPr>
            <p:cNvPr id="16" name="Freeform 16"/>
            <p:cNvSpPr/>
            <p:nvPr/>
          </p:nvSpPr>
          <p:spPr>
            <a:xfrm>
              <a:off x="0" y="0"/>
              <a:ext cx="2095110" cy="774429"/>
            </a:xfrm>
            <a:custGeom>
              <a:avLst/>
              <a:gdLst/>
              <a:ahLst/>
              <a:cxnLst/>
              <a:rect l="l" t="t" r="r" b="b"/>
              <a:pathLst>
                <a:path w="2095110" h="774429">
                  <a:moveTo>
                    <a:pt x="49635" y="0"/>
                  </a:moveTo>
                  <a:lnTo>
                    <a:pt x="2045475" y="0"/>
                  </a:lnTo>
                  <a:cubicBezTo>
                    <a:pt x="2072887" y="0"/>
                    <a:pt x="2095110" y="22222"/>
                    <a:pt x="2095110" y="49635"/>
                  </a:cubicBezTo>
                  <a:lnTo>
                    <a:pt x="2095110" y="724794"/>
                  </a:lnTo>
                  <a:cubicBezTo>
                    <a:pt x="2095110" y="752206"/>
                    <a:pt x="2072887" y="774429"/>
                    <a:pt x="2045475" y="774429"/>
                  </a:cubicBezTo>
                  <a:lnTo>
                    <a:pt x="49635" y="774429"/>
                  </a:lnTo>
                  <a:cubicBezTo>
                    <a:pt x="36471" y="774429"/>
                    <a:pt x="23846" y="769199"/>
                    <a:pt x="14538" y="759891"/>
                  </a:cubicBezTo>
                  <a:cubicBezTo>
                    <a:pt x="5229" y="750583"/>
                    <a:pt x="0" y="737958"/>
                    <a:pt x="0" y="724794"/>
                  </a:cubicBezTo>
                  <a:lnTo>
                    <a:pt x="0" y="49635"/>
                  </a:lnTo>
                  <a:cubicBezTo>
                    <a:pt x="0" y="22222"/>
                    <a:pt x="22222" y="0"/>
                    <a:pt x="49635" y="0"/>
                  </a:cubicBezTo>
                  <a:close/>
                </a:path>
              </a:pathLst>
            </a:custGeom>
            <a:solidFill>
              <a:srgbClr val="BED9FD"/>
            </a:solidFill>
          </p:spPr>
          <p:txBody>
            <a:bodyPr/>
            <a:lstStyle/>
            <a:p>
              <a:endParaRPr lang="LID4096"/>
            </a:p>
          </p:txBody>
        </p:sp>
        <p:sp>
          <p:nvSpPr>
            <p:cNvPr id="17" name="TextBox 17"/>
            <p:cNvSpPr txBox="1"/>
            <p:nvPr/>
          </p:nvSpPr>
          <p:spPr>
            <a:xfrm>
              <a:off x="0" y="-47625"/>
              <a:ext cx="2095109" cy="822054"/>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681442" y="7294108"/>
            <a:ext cx="7345244" cy="2052955"/>
          </a:xfrm>
          <a:prstGeom prst="rect">
            <a:avLst/>
          </a:prstGeom>
        </p:spPr>
        <p:txBody>
          <a:bodyPr lIns="0" tIns="0" rIns="0" bIns="0" rtlCol="0" anchor="t">
            <a:spAutoFit/>
          </a:bodyPr>
          <a:lstStyle/>
          <a:p>
            <a:pPr algn="ctr">
              <a:lnSpc>
                <a:spcPts val="3919"/>
              </a:lnSpc>
            </a:pPr>
            <a:r>
              <a:rPr lang="en-US" sz="2799">
                <a:solidFill>
                  <a:srgbClr val="00167A"/>
                </a:solidFill>
                <a:latin typeface="Agrandir"/>
                <a:ea typeface="Agrandir"/>
                <a:cs typeface="Agrandir"/>
                <a:sym typeface="Agrandir"/>
              </a:rPr>
              <a:t>Patient reviews are written in free text, which makes it difficult to manually extract consistent and structured insights from large amounts of feedback.</a:t>
            </a:r>
          </a:p>
        </p:txBody>
      </p:sp>
      <p:sp>
        <p:nvSpPr>
          <p:cNvPr id="19" name="TextBox 19"/>
          <p:cNvSpPr txBox="1"/>
          <p:nvPr/>
        </p:nvSpPr>
        <p:spPr>
          <a:xfrm>
            <a:off x="11988095" y="6251439"/>
            <a:ext cx="3658887" cy="623570"/>
          </a:xfrm>
          <a:prstGeom prst="rect">
            <a:avLst/>
          </a:prstGeom>
        </p:spPr>
        <p:txBody>
          <a:bodyPr lIns="0" tIns="0" rIns="0" bIns="0" rtlCol="0" anchor="t">
            <a:spAutoFit/>
          </a:bodyPr>
          <a:lstStyle/>
          <a:p>
            <a:pPr algn="ctr">
              <a:lnSpc>
                <a:spcPts val="4480"/>
              </a:lnSpc>
            </a:pPr>
            <a:r>
              <a:rPr lang="en-US" sz="3200" b="1">
                <a:solidFill>
                  <a:srgbClr val="000000"/>
                </a:solidFill>
                <a:latin typeface="Agrandir Bold"/>
                <a:ea typeface="Agrandir Bold"/>
                <a:cs typeface="Agrandir Bold"/>
                <a:sym typeface="Agrandir Bold"/>
              </a:rPr>
              <a:t>Current Solutions</a:t>
            </a:r>
          </a:p>
        </p:txBody>
      </p:sp>
      <p:grpSp>
        <p:nvGrpSpPr>
          <p:cNvPr id="20" name="Group 20"/>
          <p:cNvGrpSpPr/>
          <p:nvPr/>
        </p:nvGrpSpPr>
        <p:grpSpPr>
          <a:xfrm>
            <a:off x="10362876" y="6984152"/>
            <a:ext cx="6003031" cy="3158696"/>
            <a:chOff x="0" y="0"/>
            <a:chExt cx="1581045" cy="831920"/>
          </a:xfrm>
        </p:grpSpPr>
        <p:sp>
          <p:nvSpPr>
            <p:cNvPr id="21" name="Freeform 21"/>
            <p:cNvSpPr/>
            <p:nvPr/>
          </p:nvSpPr>
          <p:spPr>
            <a:xfrm>
              <a:off x="0" y="0"/>
              <a:ext cx="1581045" cy="831920"/>
            </a:xfrm>
            <a:custGeom>
              <a:avLst/>
              <a:gdLst/>
              <a:ahLst/>
              <a:cxnLst/>
              <a:rect l="l" t="t" r="r" b="b"/>
              <a:pathLst>
                <a:path w="1581045" h="831920">
                  <a:moveTo>
                    <a:pt x="65773" y="0"/>
                  </a:moveTo>
                  <a:lnTo>
                    <a:pt x="1515272" y="0"/>
                  </a:lnTo>
                  <a:cubicBezTo>
                    <a:pt x="1532716" y="0"/>
                    <a:pt x="1549446" y="6930"/>
                    <a:pt x="1561781" y="19264"/>
                  </a:cubicBezTo>
                  <a:cubicBezTo>
                    <a:pt x="1574116" y="31599"/>
                    <a:pt x="1581045" y="48329"/>
                    <a:pt x="1581045" y="65773"/>
                  </a:cubicBezTo>
                  <a:lnTo>
                    <a:pt x="1581045" y="766147"/>
                  </a:lnTo>
                  <a:cubicBezTo>
                    <a:pt x="1581045" y="802472"/>
                    <a:pt x="1551598" y="831920"/>
                    <a:pt x="1515272" y="831920"/>
                  </a:cubicBezTo>
                  <a:lnTo>
                    <a:pt x="65773" y="831920"/>
                  </a:lnTo>
                  <a:cubicBezTo>
                    <a:pt x="29448" y="831920"/>
                    <a:pt x="0" y="802472"/>
                    <a:pt x="0" y="766147"/>
                  </a:cubicBezTo>
                  <a:lnTo>
                    <a:pt x="0" y="65773"/>
                  </a:lnTo>
                  <a:cubicBezTo>
                    <a:pt x="0" y="29448"/>
                    <a:pt x="29448" y="0"/>
                    <a:pt x="65773" y="0"/>
                  </a:cubicBezTo>
                  <a:close/>
                </a:path>
              </a:pathLst>
            </a:custGeom>
            <a:solidFill>
              <a:srgbClr val="BED9FD"/>
            </a:solidFill>
          </p:spPr>
          <p:txBody>
            <a:bodyPr/>
            <a:lstStyle/>
            <a:p>
              <a:endParaRPr lang="LID4096"/>
            </a:p>
          </p:txBody>
        </p:sp>
        <p:sp>
          <p:nvSpPr>
            <p:cNvPr id="22" name="TextBox 22"/>
            <p:cNvSpPr txBox="1"/>
            <p:nvPr/>
          </p:nvSpPr>
          <p:spPr>
            <a:xfrm>
              <a:off x="0" y="-47625"/>
              <a:ext cx="1581045" cy="879545"/>
            </a:xfrm>
            <a:prstGeom prst="rect">
              <a:avLst/>
            </a:prstGeom>
          </p:spPr>
          <p:txBody>
            <a:bodyPr lIns="50800" tIns="50800" rIns="50800" bIns="50800" rtlCol="0" anchor="ctr"/>
            <a:lstStyle/>
            <a:p>
              <a:pPr algn="ctr">
                <a:lnSpc>
                  <a:spcPts val="2659"/>
                </a:lnSpc>
                <a:spcBef>
                  <a:spcPct val="0"/>
                </a:spcBef>
              </a:pPr>
              <a:endParaRPr/>
            </a:p>
          </p:txBody>
        </p:sp>
      </p:grpSp>
      <p:sp>
        <p:nvSpPr>
          <p:cNvPr id="23" name="TextBox 23"/>
          <p:cNvSpPr txBox="1"/>
          <p:nvPr/>
        </p:nvSpPr>
        <p:spPr>
          <a:xfrm>
            <a:off x="10676332" y="7075033"/>
            <a:ext cx="5232578" cy="4921780"/>
          </a:xfrm>
          <a:prstGeom prst="rect">
            <a:avLst/>
          </a:prstGeom>
        </p:spPr>
        <p:txBody>
          <a:bodyPr lIns="0" tIns="0" rIns="0" bIns="0" rtlCol="0" anchor="t">
            <a:spAutoFit/>
          </a:bodyPr>
          <a:lstStyle/>
          <a:p>
            <a:pPr algn="ctr">
              <a:lnSpc>
                <a:spcPts val="3925"/>
              </a:lnSpc>
            </a:pPr>
            <a:r>
              <a:rPr lang="en-US" sz="2804">
                <a:solidFill>
                  <a:srgbClr val="00167A"/>
                </a:solidFill>
                <a:latin typeface="Agrandir"/>
                <a:ea typeface="Agrandir"/>
                <a:cs typeface="Agrandir"/>
                <a:sym typeface="Agrandir"/>
              </a:rPr>
              <a:t>Today, feedback analysis is often performed manually or with simple keyword-based methods that may miss context and sentiment.</a:t>
            </a:r>
          </a:p>
          <a:p>
            <a:pPr algn="ctr">
              <a:lnSpc>
                <a:spcPts val="4765"/>
              </a:lnSpc>
            </a:pPr>
            <a:endParaRPr lang="en-US" sz="2804">
              <a:solidFill>
                <a:srgbClr val="00167A"/>
              </a:solidFill>
              <a:latin typeface="Agrandir"/>
              <a:ea typeface="Agrandir"/>
              <a:cs typeface="Agrandir"/>
              <a:sym typeface="Agrandir"/>
            </a:endParaRPr>
          </a:p>
          <a:p>
            <a:pPr algn="ctr">
              <a:lnSpc>
                <a:spcPts val="4765"/>
              </a:lnSpc>
            </a:pPr>
            <a:endParaRPr lang="en-US" sz="2804">
              <a:solidFill>
                <a:srgbClr val="00167A"/>
              </a:solidFill>
              <a:latin typeface="Agrandir"/>
              <a:ea typeface="Agrandir"/>
              <a:cs typeface="Agrandir"/>
              <a:sym typeface="Agrandir"/>
            </a:endParaRPr>
          </a:p>
          <a:p>
            <a:pPr algn="ctr">
              <a:lnSpc>
                <a:spcPts val="4765"/>
              </a:lnSpc>
            </a:pPr>
            <a:endParaRPr lang="en-US" sz="2804">
              <a:solidFill>
                <a:srgbClr val="00167A"/>
              </a:solidFill>
              <a:latin typeface="Agrandir"/>
              <a:ea typeface="Agrandir"/>
              <a:cs typeface="Agrandir"/>
              <a:sym typeface="Agrandir"/>
            </a:endParaRPr>
          </a:p>
          <a:p>
            <a:pPr algn="ctr">
              <a:lnSpc>
                <a:spcPts val="4765"/>
              </a:lnSpc>
            </a:pPr>
            <a:endParaRPr lang="en-US" sz="2804">
              <a:solidFill>
                <a:srgbClr val="00167A"/>
              </a:solidFill>
              <a:latin typeface="Agrandir"/>
              <a:ea typeface="Agrandir"/>
              <a:cs typeface="Agrandir"/>
              <a:sym typeface="Agrandir"/>
            </a:endParaRPr>
          </a:p>
        </p:txBody>
      </p:sp>
      <p:sp>
        <p:nvSpPr>
          <p:cNvPr id="24" name="TextBox 24"/>
          <p:cNvSpPr txBox="1"/>
          <p:nvPr/>
        </p:nvSpPr>
        <p:spPr>
          <a:xfrm>
            <a:off x="722550" y="3265138"/>
            <a:ext cx="7195486" cy="3024505"/>
          </a:xfrm>
          <a:prstGeom prst="rect">
            <a:avLst/>
          </a:prstGeom>
        </p:spPr>
        <p:txBody>
          <a:bodyPr lIns="0" tIns="0" rIns="0" bIns="0" rtlCol="0" anchor="t">
            <a:spAutoFit/>
          </a:bodyPr>
          <a:lstStyle/>
          <a:p>
            <a:pPr marL="0" lvl="1" indent="0" algn="ctr">
              <a:lnSpc>
                <a:spcPts val="3920"/>
              </a:lnSpc>
              <a:spcBef>
                <a:spcPct val="0"/>
              </a:spcBef>
            </a:pPr>
            <a:r>
              <a:rPr lang="en-US" sz="2800" u="none" strike="noStrike">
                <a:solidFill>
                  <a:srgbClr val="00167A"/>
                </a:solidFill>
                <a:latin typeface="Agrandir"/>
                <a:ea typeface="Agrandir"/>
                <a:cs typeface="Agrandir"/>
                <a:sym typeface="Agrandir"/>
              </a:rPr>
              <a:t>A major challenge in medical ABSA is the lack of large labeled datasets, which motivated the creation of a controlled synthetic review generation pipeline.</a:t>
            </a:r>
          </a:p>
          <a:p>
            <a:pPr marL="0" lvl="1" indent="0" algn="ctr">
              <a:lnSpc>
                <a:spcPts val="3920"/>
              </a:lnSpc>
              <a:spcBef>
                <a:spcPct val="0"/>
              </a:spcBef>
            </a:pPr>
            <a:endParaRPr lang="en-US" sz="2800" u="none" strike="noStrike">
              <a:solidFill>
                <a:srgbClr val="00167A"/>
              </a:solidFill>
              <a:latin typeface="Agrandir"/>
              <a:ea typeface="Agrandir"/>
              <a:cs typeface="Agrandir"/>
              <a:sym typeface="Agrandir"/>
            </a:endParaRPr>
          </a:p>
          <a:p>
            <a:pPr marL="0" lvl="1" indent="0" algn="ctr">
              <a:lnSpc>
                <a:spcPts val="3920"/>
              </a:lnSpc>
              <a:spcBef>
                <a:spcPct val="0"/>
              </a:spcBef>
            </a:pPr>
            <a:endParaRPr lang="en-US" sz="2800" u="none" strike="noStrike">
              <a:solidFill>
                <a:srgbClr val="00167A"/>
              </a:solidFill>
              <a:latin typeface="Agrandir"/>
              <a:ea typeface="Agrandir"/>
              <a:cs typeface="Agrandir"/>
              <a:sym typeface="Agrandir"/>
            </a:endParaRP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0" y="1707734"/>
          <a:ext cx="18288000" cy="8337668"/>
        </p:xfrm>
        <a:graphic>
          <a:graphicData uri="http://schemas.openxmlformats.org/drawingml/2006/table">
            <a:tbl>
              <a:tblPr/>
              <a:tblGrid>
                <a:gridCol w="7320927">
                  <a:extLst>
                    <a:ext uri="{9D8B030D-6E8A-4147-A177-3AD203B41FA5}">
                      <a16:colId xmlns:a16="http://schemas.microsoft.com/office/drawing/2014/main" val="20000"/>
                    </a:ext>
                  </a:extLst>
                </a:gridCol>
                <a:gridCol w="2658027">
                  <a:extLst>
                    <a:ext uri="{9D8B030D-6E8A-4147-A177-3AD203B41FA5}">
                      <a16:colId xmlns:a16="http://schemas.microsoft.com/office/drawing/2014/main" val="20001"/>
                    </a:ext>
                  </a:extLst>
                </a:gridCol>
                <a:gridCol w="3075505">
                  <a:extLst>
                    <a:ext uri="{9D8B030D-6E8A-4147-A177-3AD203B41FA5}">
                      <a16:colId xmlns:a16="http://schemas.microsoft.com/office/drawing/2014/main" val="20002"/>
                    </a:ext>
                  </a:extLst>
                </a:gridCol>
                <a:gridCol w="5233541">
                  <a:extLst>
                    <a:ext uri="{9D8B030D-6E8A-4147-A177-3AD203B41FA5}">
                      <a16:colId xmlns:a16="http://schemas.microsoft.com/office/drawing/2014/main" val="20003"/>
                    </a:ext>
                  </a:extLst>
                </a:gridCol>
              </a:tblGrid>
              <a:tr h="1578840">
                <a:tc>
                  <a:txBody>
                    <a:bodyPr/>
                    <a:lstStyle/>
                    <a:p>
                      <a:pPr marL="0" lvl="0" indent="0" algn="l">
                        <a:lnSpc>
                          <a:spcPts val="4306"/>
                        </a:lnSpc>
                        <a:spcBef>
                          <a:spcPct val="0"/>
                        </a:spcBef>
                        <a:defRPr/>
                      </a:pPr>
                      <a:r>
                        <a:rPr lang="en-US" sz="3076" b="1" u="none" strike="noStrike">
                          <a:solidFill>
                            <a:srgbClr val="00167A"/>
                          </a:solidFill>
                          <a:latin typeface="Agrandir Bold"/>
                          <a:ea typeface="Agrandir Bold"/>
                          <a:cs typeface="Agrandir Bold"/>
                          <a:sym typeface="Agrandir Bold"/>
                        </a:rPr>
                        <a:t>Paper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marL="0" lvl="0" indent="0" algn="l">
                        <a:lnSpc>
                          <a:spcPts val="4306"/>
                        </a:lnSpc>
                        <a:spcBef>
                          <a:spcPct val="0"/>
                        </a:spcBef>
                        <a:defRPr/>
                      </a:pPr>
                      <a:r>
                        <a:rPr lang="en-US" sz="3076" b="1" u="none" strike="noStrike">
                          <a:solidFill>
                            <a:srgbClr val="00167A"/>
                          </a:solidFill>
                          <a:latin typeface="Agrandir Bold"/>
                          <a:ea typeface="Agrandir Bold"/>
                          <a:cs typeface="Agrandir Bold"/>
                          <a:sym typeface="Agrandir Bold"/>
                        </a:rPr>
                        <a:t>Task</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marL="0" lvl="0" indent="0" algn="l">
                        <a:lnSpc>
                          <a:spcPts val="4306"/>
                        </a:lnSpc>
                        <a:spcBef>
                          <a:spcPct val="0"/>
                        </a:spcBef>
                        <a:defRPr/>
                      </a:pPr>
                      <a:r>
                        <a:rPr lang="en-US" sz="3076" b="1" u="none" strike="noStrike">
                          <a:solidFill>
                            <a:srgbClr val="00167A"/>
                          </a:solidFill>
                          <a:latin typeface="Agrandir Bold"/>
                          <a:ea typeface="Agrandir Bold"/>
                          <a:cs typeface="Agrandir Bold"/>
                          <a:sym typeface="Agrandir Bold"/>
                        </a:rPr>
                        <a:t>Methods / Models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tc>
                  <a:txBody>
                    <a:bodyPr/>
                    <a:lstStyle/>
                    <a:p>
                      <a:pPr marL="0" lvl="0" indent="0" algn="l">
                        <a:lnSpc>
                          <a:spcPts val="4306"/>
                        </a:lnSpc>
                        <a:spcBef>
                          <a:spcPct val="0"/>
                        </a:spcBef>
                        <a:defRPr/>
                      </a:pPr>
                      <a:r>
                        <a:rPr lang="en-US" sz="3076" b="1" u="none" strike="noStrike">
                          <a:solidFill>
                            <a:srgbClr val="00167A"/>
                          </a:solidFill>
                          <a:latin typeface="Agrandir Bold"/>
                          <a:ea typeface="Agrandir Bold"/>
                          <a:cs typeface="Agrandir Bold"/>
                          <a:sym typeface="Agrandir Bold"/>
                        </a:rPr>
                        <a:t>Main Results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942451">
                <a:tc>
                  <a:txBody>
                    <a:bodyPr/>
                    <a:lstStyle/>
                    <a:p>
                      <a:pPr algn="l">
                        <a:lnSpc>
                          <a:spcPts val="2539"/>
                        </a:lnSpc>
                        <a:defRPr/>
                      </a:pPr>
                      <a:r>
                        <a:rPr lang="en-US" sz="1814" b="1">
                          <a:solidFill>
                            <a:srgbClr val="000000"/>
                          </a:solidFill>
                          <a:latin typeface="Arimo Bold"/>
                          <a:ea typeface="Arimo Bold"/>
                          <a:cs typeface="Arimo Bold"/>
                          <a:sym typeface="Arimo Bold"/>
                        </a:rPr>
                        <a:t>Revealing Patient Dissatisfaction With Health Care Resource Allocation in Multiple Dimensions Using Large Language Models and the International Classification of Diseases 11th Revision: Aspect-Based Sentiment Analysis</a:t>
                      </a:r>
                      <a:endParaRPr lang="en-US" sz="1100"/>
                    </a:p>
                    <a:p>
                      <a:pPr algn="l">
                        <a:lnSpc>
                          <a:spcPts val="1679"/>
                        </a:lnSpc>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lvl="0" indent="0" algn="l">
                        <a:lnSpc>
                          <a:spcPts val="2539"/>
                        </a:lnSpc>
                        <a:spcBef>
                          <a:spcPct val="0"/>
                        </a:spcBef>
                        <a:defRPr/>
                      </a:pPr>
                      <a:r>
                        <a:rPr lang="en-US" sz="1814" b="1" u="none" strike="noStrike">
                          <a:solidFill>
                            <a:srgbClr val="000000"/>
                          </a:solidFill>
                          <a:latin typeface="Arimo Bold"/>
                          <a:ea typeface="Arimo Bold"/>
                          <a:cs typeface="Arimo Bold"/>
                          <a:sym typeface="Arimo Bold"/>
                        </a:rPr>
                        <a:t>Aspect-Based Sentiment Analysis (ABSA) on patient reviews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lvl="0" indent="0" algn="l">
                        <a:lnSpc>
                          <a:spcPts val="2539"/>
                        </a:lnSpc>
                        <a:spcBef>
                          <a:spcPct val="0"/>
                        </a:spcBef>
                        <a:defRPr/>
                      </a:pPr>
                      <a:r>
                        <a:rPr lang="en-US" sz="1814" b="1" u="none" strike="noStrike">
                          <a:solidFill>
                            <a:srgbClr val="000000"/>
                          </a:solidFill>
                          <a:latin typeface="Arimo Bold"/>
                          <a:ea typeface="Arimo Bold"/>
                          <a:cs typeface="Arimo Bold"/>
                          <a:sym typeface="Arimo Bold"/>
                        </a:rPr>
                        <a:t>ChatGPT with aspect-based prompting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lvl="0" indent="0" algn="l">
                        <a:lnSpc>
                          <a:spcPts val="2539"/>
                        </a:lnSpc>
                        <a:spcBef>
                          <a:spcPct val="0"/>
                        </a:spcBef>
                        <a:defRPr/>
                      </a:pPr>
                      <a:r>
                        <a:rPr lang="en-US" sz="1814" b="1" u="none" strike="noStrike">
                          <a:solidFill>
                            <a:srgbClr val="000000"/>
                          </a:solidFill>
                          <a:latin typeface="Arimo Bold"/>
                          <a:ea typeface="Arimo Bold"/>
                          <a:cs typeface="Arimo Bold"/>
                          <a:sym typeface="Arimo Bold"/>
                        </a:rPr>
                        <a:t>Demonstrated that ChatGPT can identify dissatisfaction related to specific healthcare aspects rather than only overall sentiment.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343801">
                <a:tc>
                  <a:txBody>
                    <a:bodyPr/>
                    <a:lstStyle/>
                    <a:p>
                      <a:pPr algn="l">
                        <a:lnSpc>
                          <a:spcPts val="2539"/>
                        </a:lnSpc>
                        <a:defRPr/>
                      </a:pPr>
                      <a:r>
                        <a:rPr lang="en-US" sz="1814" b="1">
                          <a:solidFill>
                            <a:srgbClr val="000000"/>
                          </a:solidFill>
                          <a:latin typeface="Arimo Bold"/>
                          <a:ea typeface="Arimo Bold"/>
                          <a:cs typeface="Arimo Bold"/>
                          <a:sym typeface="Arimo Bold"/>
                        </a:rPr>
                        <a:t>Using Large Language Models for sentiment analysis of health-related social media data: empirical evaluation and practical tips</a:t>
                      </a:r>
                      <a:endParaRPr lang="en-US" sz="1100"/>
                    </a:p>
                    <a:p>
                      <a:pPr algn="l">
                        <a:lnSpc>
                          <a:spcPts val="1679"/>
                        </a:lnSpc>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lvl="0" indent="0" algn="l">
                        <a:lnSpc>
                          <a:spcPts val="2539"/>
                        </a:lnSpc>
                        <a:spcBef>
                          <a:spcPct val="0"/>
                        </a:spcBef>
                        <a:defRPr/>
                      </a:pPr>
                      <a:r>
                        <a:rPr lang="en-US" sz="1814" b="1" u="none" strike="noStrike">
                          <a:solidFill>
                            <a:srgbClr val="000000"/>
                          </a:solidFill>
                          <a:latin typeface="Arimo Bold"/>
                          <a:ea typeface="Arimo Bold"/>
                          <a:cs typeface="Arimo Bold"/>
                          <a:sym typeface="Arimo Bold"/>
                        </a:rPr>
                        <a:t>Sentiment analysis of health-related social media text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lvl="0" indent="0" algn="l">
                        <a:lnSpc>
                          <a:spcPts val="2539"/>
                        </a:lnSpc>
                        <a:spcBef>
                          <a:spcPct val="0"/>
                        </a:spcBef>
                        <a:defRPr/>
                      </a:pPr>
                      <a:r>
                        <a:rPr lang="en-US" sz="1814" b="1" u="none" strike="noStrike">
                          <a:solidFill>
                            <a:srgbClr val="000000"/>
                          </a:solidFill>
                          <a:latin typeface="Arimo Bold"/>
                          <a:ea typeface="Arimo Bold"/>
                          <a:cs typeface="Arimo Bold"/>
                          <a:sym typeface="Arimo Bold"/>
                        </a:rPr>
                        <a:t>GPT-3.5-Turbo, FLAN-T5, and BERT-based models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lvl="0" indent="0" algn="l">
                        <a:lnSpc>
                          <a:spcPts val="2539"/>
                        </a:lnSpc>
                        <a:spcBef>
                          <a:spcPct val="0"/>
                        </a:spcBef>
                        <a:defRPr/>
                      </a:pPr>
                      <a:r>
                        <a:rPr lang="en-US" sz="1814" b="1" u="none" strike="noStrike">
                          <a:solidFill>
                            <a:srgbClr val="000000"/>
                          </a:solidFill>
                          <a:latin typeface="Arimo Bold"/>
                          <a:ea typeface="Arimo Bold"/>
                          <a:cs typeface="Arimo Bold"/>
                          <a:sym typeface="Arimo Bold"/>
                        </a:rPr>
                        <a:t>Showed that LLM performance on healthcare sentiment analysis strongly depends on prompting, fine-tuning, and validation strategies.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472576">
                <a:tc>
                  <a:txBody>
                    <a:bodyPr/>
                    <a:lstStyle/>
                    <a:p>
                      <a:pPr algn="l">
                        <a:lnSpc>
                          <a:spcPts val="2539"/>
                        </a:lnSpc>
                        <a:defRPr/>
                      </a:pPr>
                      <a:r>
                        <a:rPr lang="en-US" sz="1814" b="1">
                          <a:solidFill>
                            <a:srgbClr val="000000"/>
                          </a:solidFill>
                          <a:latin typeface="Arimo Bold"/>
                          <a:ea typeface="Arimo Bold"/>
                          <a:cs typeface="Arimo Bold"/>
                          <a:sym typeface="Arimo Bold"/>
                        </a:rPr>
                        <a:t>Large language models and synthetic health data: progress and prospects</a:t>
                      </a:r>
                      <a:endParaRPr lang="en-US" sz="1100"/>
                    </a:p>
                    <a:p>
                      <a:pPr algn="l">
                        <a:lnSpc>
                          <a:spcPts val="1679"/>
                        </a:lnSpc>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lvl="0" indent="0" algn="l">
                        <a:lnSpc>
                          <a:spcPts val="2539"/>
                        </a:lnSpc>
                        <a:spcBef>
                          <a:spcPct val="0"/>
                        </a:spcBef>
                        <a:defRPr/>
                      </a:pPr>
                      <a:r>
                        <a:rPr lang="en-US" sz="1814" b="1" u="none" strike="noStrike">
                          <a:solidFill>
                            <a:srgbClr val="000000"/>
                          </a:solidFill>
                          <a:latin typeface="Arimo Bold"/>
                          <a:ea typeface="Arimo Bold"/>
                          <a:cs typeface="Arimo Bold"/>
                          <a:sym typeface="Arimo Bold"/>
                        </a:rPr>
                        <a:t>Review of synthetic healthcare data generation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lvl="0" indent="0" algn="l">
                        <a:lnSpc>
                          <a:spcPts val="2539"/>
                        </a:lnSpc>
                        <a:spcBef>
                          <a:spcPct val="0"/>
                        </a:spcBef>
                        <a:defRPr/>
                      </a:pPr>
                      <a:r>
                        <a:rPr lang="en-US" sz="1814" b="1" u="none" strike="noStrike">
                          <a:solidFill>
                            <a:srgbClr val="000000"/>
                          </a:solidFill>
                          <a:latin typeface="Arimo Bold"/>
                          <a:ea typeface="Arimo Bold"/>
                          <a:cs typeface="Arimo Bold"/>
                          <a:sym typeface="Arimo Bold"/>
                        </a:rPr>
                        <a:t>Review of LLM-based synthetic data generation methods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lvl="0" indent="0" algn="l">
                        <a:lnSpc>
                          <a:spcPts val="2539"/>
                        </a:lnSpc>
                        <a:spcBef>
                          <a:spcPct val="0"/>
                        </a:spcBef>
                        <a:defRPr/>
                      </a:pPr>
                      <a:r>
                        <a:rPr lang="en-US" sz="1814" b="1" u="none" strike="noStrike">
                          <a:solidFill>
                            <a:srgbClr val="000000"/>
                          </a:solidFill>
                          <a:latin typeface="Arimo Bold"/>
                          <a:ea typeface="Arimo Bold"/>
                          <a:cs typeface="Arimo Bold"/>
                          <a:sym typeface="Arimo Bold"/>
                        </a:rPr>
                        <a:t>Highlighted the potential of LLMs for generating synthetic health data while emphasizing the importance of validation, privacy, and quality control.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extBox 3"/>
          <p:cNvSpPr txBox="1"/>
          <p:nvPr/>
        </p:nvSpPr>
        <p:spPr>
          <a:xfrm>
            <a:off x="4339069" y="622445"/>
            <a:ext cx="9347078" cy="907760"/>
          </a:xfrm>
          <a:prstGeom prst="rect">
            <a:avLst/>
          </a:prstGeom>
        </p:spPr>
        <p:txBody>
          <a:bodyPr lIns="0" tIns="0" rIns="0" bIns="0" rtlCol="0" anchor="t">
            <a:spAutoFit/>
          </a:bodyPr>
          <a:lstStyle/>
          <a:p>
            <a:pPr algn="ctr">
              <a:lnSpc>
                <a:spcPts val="6986"/>
              </a:lnSpc>
            </a:pPr>
            <a:r>
              <a:rPr lang="en-US" sz="6590">
                <a:solidFill>
                  <a:srgbClr val="00357A"/>
                </a:solidFill>
                <a:latin typeface="Fredoka"/>
                <a:ea typeface="Fredoka"/>
                <a:cs typeface="Fredoka"/>
                <a:sym typeface="Fredoka"/>
              </a:rPr>
              <a:t>Previous work</a:t>
            </a:r>
          </a:p>
        </p:txBody>
      </p:sp>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0" y="-30221"/>
            <a:ext cx="1524000" cy="3155843"/>
          </a:xfrm>
          <a:custGeom>
            <a:avLst/>
            <a:gdLst/>
            <a:ahLst/>
            <a:cxnLst/>
            <a:rect l="l" t="t" r="r" b="b"/>
            <a:pathLst>
              <a:path w="2975865" h="4191359">
                <a:moveTo>
                  <a:pt x="0" y="0"/>
                </a:moveTo>
                <a:lnTo>
                  <a:pt x="2975865" y="0"/>
                </a:lnTo>
                <a:lnTo>
                  <a:pt x="2975865" y="4191360"/>
                </a:lnTo>
                <a:lnTo>
                  <a:pt x="0" y="419136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LID4096"/>
          </a:p>
        </p:txBody>
      </p:sp>
      <p:sp>
        <p:nvSpPr>
          <p:cNvPr id="3" name="Freeform 3"/>
          <p:cNvSpPr/>
          <p:nvPr/>
        </p:nvSpPr>
        <p:spPr>
          <a:xfrm flipH="1" flipV="1">
            <a:off x="15625010" y="-181732"/>
            <a:ext cx="2895600" cy="4180707"/>
          </a:xfrm>
          <a:custGeom>
            <a:avLst/>
            <a:gdLst/>
            <a:ahLst/>
            <a:cxnLst/>
            <a:rect l="l" t="t" r="r" b="b"/>
            <a:pathLst>
              <a:path w="4949069" h="5216410">
                <a:moveTo>
                  <a:pt x="4949068" y="5216410"/>
                </a:moveTo>
                <a:lnTo>
                  <a:pt x="0" y="5216410"/>
                </a:lnTo>
                <a:lnTo>
                  <a:pt x="0" y="0"/>
                </a:lnTo>
                <a:lnTo>
                  <a:pt x="4949068" y="0"/>
                </a:lnTo>
                <a:lnTo>
                  <a:pt x="4949068" y="521641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LID4096"/>
          </a:p>
        </p:txBody>
      </p:sp>
      <p:sp>
        <p:nvSpPr>
          <p:cNvPr id="4" name="TextBox 4"/>
          <p:cNvSpPr txBox="1"/>
          <p:nvPr/>
        </p:nvSpPr>
        <p:spPr>
          <a:xfrm>
            <a:off x="3384159" y="779589"/>
            <a:ext cx="10433379" cy="907760"/>
          </a:xfrm>
          <a:prstGeom prst="rect">
            <a:avLst/>
          </a:prstGeom>
        </p:spPr>
        <p:txBody>
          <a:bodyPr lIns="0" tIns="0" rIns="0" bIns="0" rtlCol="0" anchor="t">
            <a:spAutoFit/>
          </a:bodyPr>
          <a:lstStyle/>
          <a:p>
            <a:pPr algn="ctr">
              <a:lnSpc>
                <a:spcPts val="6986"/>
              </a:lnSpc>
            </a:pPr>
            <a:r>
              <a:rPr lang="en-US" sz="6590">
                <a:solidFill>
                  <a:srgbClr val="00357A"/>
                </a:solidFill>
                <a:latin typeface="Fredoka"/>
                <a:ea typeface="Fredoka"/>
                <a:cs typeface="Fredoka"/>
                <a:sym typeface="Fredoka"/>
              </a:rPr>
              <a:t>Project task description</a:t>
            </a:r>
          </a:p>
        </p:txBody>
      </p:sp>
      <p:sp>
        <p:nvSpPr>
          <p:cNvPr id="5" name="TextBox 5"/>
          <p:cNvSpPr txBox="1"/>
          <p:nvPr/>
        </p:nvSpPr>
        <p:spPr>
          <a:xfrm>
            <a:off x="680492" y="2630323"/>
            <a:ext cx="15994708" cy="2095500"/>
          </a:xfrm>
          <a:prstGeom prst="rect">
            <a:avLst/>
          </a:prstGeom>
        </p:spPr>
        <p:txBody>
          <a:bodyPr lIns="0" tIns="0" rIns="0" bIns="0" rtlCol="0" anchor="t">
            <a:spAutoFit/>
          </a:bodyPr>
          <a:lstStyle/>
          <a:p>
            <a:pPr marL="604523" lvl="1" indent="-302261" algn="l">
              <a:lnSpc>
                <a:spcPts val="3920"/>
              </a:lnSpc>
              <a:buFont typeface="Arial"/>
              <a:buChar char="•"/>
            </a:pPr>
            <a:r>
              <a:rPr lang="en-US" sz="2800" b="1">
                <a:solidFill>
                  <a:srgbClr val="000000"/>
                </a:solidFill>
                <a:latin typeface="Agrandir Bold"/>
                <a:ea typeface="Agrandir Bold"/>
                <a:cs typeface="Agrandir Bold"/>
                <a:sym typeface="Agrandir Bold"/>
              </a:rPr>
              <a:t>Problem Definition</a:t>
            </a:r>
          </a:p>
          <a:p>
            <a:pPr algn="l">
              <a:lnSpc>
                <a:spcPts val="3920"/>
              </a:lnSpc>
            </a:pPr>
            <a:r>
              <a:rPr lang="en-US" sz="2800">
                <a:solidFill>
                  <a:srgbClr val="000000"/>
                </a:solidFill>
                <a:latin typeface="Agrandir"/>
                <a:ea typeface="Agrandir"/>
                <a:cs typeface="Agrandir"/>
                <a:sym typeface="Agrandir"/>
              </a:rPr>
              <a:t>The project aims to build an LLM-based model that performs aspect-based sentiment analysis on patient reviews about the Uroject12 syringe device.</a:t>
            </a:r>
          </a:p>
          <a:p>
            <a:pPr algn="l">
              <a:lnSpc>
                <a:spcPts val="4480"/>
              </a:lnSpc>
            </a:pPr>
            <a:endParaRPr lang="en-US" sz="2800">
              <a:solidFill>
                <a:srgbClr val="000000"/>
              </a:solidFill>
              <a:latin typeface="Agrandir"/>
              <a:ea typeface="Agrandir"/>
              <a:cs typeface="Agrandir"/>
              <a:sym typeface="Agrandir"/>
            </a:endParaRPr>
          </a:p>
        </p:txBody>
      </p:sp>
      <p:sp>
        <p:nvSpPr>
          <p:cNvPr id="6" name="TextBox 6"/>
          <p:cNvSpPr txBox="1"/>
          <p:nvPr/>
        </p:nvSpPr>
        <p:spPr>
          <a:xfrm>
            <a:off x="603495" y="4304325"/>
            <a:ext cx="15994708" cy="1600200"/>
          </a:xfrm>
          <a:prstGeom prst="rect">
            <a:avLst/>
          </a:prstGeom>
        </p:spPr>
        <p:txBody>
          <a:bodyPr lIns="0" tIns="0" rIns="0" bIns="0" rtlCol="0" anchor="t">
            <a:spAutoFit/>
          </a:bodyPr>
          <a:lstStyle/>
          <a:p>
            <a:pPr marL="604523" lvl="1" indent="-302261" algn="l">
              <a:lnSpc>
                <a:spcPts val="3920"/>
              </a:lnSpc>
              <a:buFont typeface="Arial"/>
              <a:buChar char="•"/>
            </a:pPr>
            <a:r>
              <a:rPr lang="en-US" sz="2800" b="1">
                <a:solidFill>
                  <a:srgbClr val="000000"/>
                </a:solidFill>
                <a:latin typeface="Agrandir Bold"/>
                <a:ea typeface="Agrandir Bold"/>
                <a:cs typeface="Agrandir Bold"/>
                <a:sym typeface="Agrandir Bold"/>
              </a:rPr>
              <a:t>Input</a:t>
            </a:r>
          </a:p>
          <a:p>
            <a:pPr algn="l">
              <a:lnSpc>
                <a:spcPts val="3920"/>
              </a:lnSpc>
            </a:pPr>
            <a:r>
              <a:rPr lang="en-US" sz="2800">
                <a:solidFill>
                  <a:srgbClr val="000000"/>
                </a:solidFill>
                <a:latin typeface="Agrandir"/>
                <a:ea typeface="Agrandir"/>
                <a:cs typeface="Agrandir"/>
                <a:sym typeface="Agrandir"/>
              </a:rPr>
              <a:t>The input is a free-text patient review describing the user’s experience with the device.</a:t>
            </a:r>
          </a:p>
          <a:p>
            <a:pPr algn="l">
              <a:lnSpc>
                <a:spcPts val="4480"/>
              </a:lnSpc>
            </a:pPr>
            <a:endParaRPr lang="en-US" sz="2800">
              <a:solidFill>
                <a:srgbClr val="000000"/>
              </a:solidFill>
              <a:latin typeface="Agrandir"/>
              <a:ea typeface="Agrandir"/>
              <a:cs typeface="Agrandir"/>
              <a:sym typeface="Agrandir"/>
            </a:endParaRPr>
          </a:p>
        </p:txBody>
      </p:sp>
      <p:sp>
        <p:nvSpPr>
          <p:cNvPr id="7" name="TextBox 7"/>
          <p:cNvSpPr txBox="1"/>
          <p:nvPr/>
        </p:nvSpPr>
        <p:spPr>
          <a:xfrm>
            <a:off x="603495" y="5671304"/>
            <a:ext cx="15994708" cy="2033905"/>
          </a:xfrm>
          <a:prstGeom prst="rect">
            <a:avLst/>
          </a:prstGeom>
        </p:spPr>
        <p:txBody>
          <a:bodyPr lIns="0" tIns="0" rIns="0" bIns="0" rtlCol="0" anchor="t">
            <a:spAutoFit/>
          </a:bodyPr>
          <a:lstStyle/>
          <a:p>
            <a:pPr marL="604523" lvl="1" indent="-302261" algn="l">
              <a:lnSpc>
                <a:spcPts val="3920"/>
              </a:lnSpc>
              <a:spcBef>
                <a:spcPct val="0"/>
              </a:spcBef>
              <a:buFont typeface="Arial"/>
              <a:buChar char="•"/>
            </a:pPr>
            <a:r>
              <a:rPr lang="en-US" sz="2800" b="1" u="none" strike="noStrike">
                <a:solidFill>
                  <a:srgbClr val="000000"/>
                </a:solidFill>
                <a:latin typeface="Agrandir Bold"/>
                <a:ea typeface="Agrandir Bold"/>
                <a:cs typeface="Agrandir Bold"/>
                <a:sym typeface="Agrandir Bold"/>
              </a:rPr>
              <a:t>Output</a:t>
            </a:r>
          </a:p>
          <a:p>
            <a:pPr algn="l">
              <a:lnSpc>
                <a:spcPts val="3920"/>
              </a:lnSpc>
              <a:spcBef>
                <a:spcPct val="0"/>
              </a:spcBef>
            </a:pPr>
            <a:r>
              <a:rPr lang="en-US" sz="2800" u="none" strike="noStrike">
                <a:solidFill>
                  <a:srgbClr val="000000"/>
                </a:solidFill>
                <a:latin typeface="Agrandir"/>
                <a:ea typeface="Agrandir"/>
                <a:cs typeface="Agrandir"/>
                <a:sym typeface="Agrandir"/>
              </a:rPr>
              <a:t>The output is a sentiment classification (positive, negative, neutral, or mixed) for each relevant aspect mentioned in the review, such as ease of use, cleaning and sterilization, lever operation, syringe compatibility, and device durability.</a:t>
            </a:r>
          </a:p>
        </p:txBody>
      </p:sp>
      <p:sp>
        <p:nvSpPr>
          <p:cNvPr id="8" name="TextBox 8"/>
          <p:cNvSpPr txBox="1"/>
          <p:nvPr/>
        </p:nvSpPr>
        <p:spPr>
          <a:xfrm>
            <a:off x="603495" y="7970925"/>
            <a:ext cx="15994708" cy="4015105"/>
          </a:xfrm>
          <a:prstGeom prst="rect">
            <a:avLst/>
          </a:prstGeom>
        </p:spPr>
        <p:txBody>
          <a:bodyPr lIns="0" tIns="0" rIns="0" bIns="0" rtlCol="0" anchor="t">
            <a:spAutoFit/>
          </a:bodyPr>
          <a:lstStyle/>
          <a:p>
            <a:pPr marL="604523" lvl="1" indent="-302261" algn="l">
              <a:lnSpc>
                <a:spcPts val="3920"/>
              </a:lnSpc>
              <a:spcBef>
                <a:spcPct val="0"/>
              </a:spcBef>
              <a:buFont typeface="Arial"/>
              <a:buChar char="•"/>
            </a:pPr>
            <a:r>
              <a:rPr lang="en-US" sz="2800" b="1">
                <a:solidFill>
                  <a:srgbClr val="000000"/>
                </a:solidFill>
                <a:latin typeface="Agrandir Bold"/>
                <a:ea typeface="Agrandir Bold"/>
                <a:cs typeface="Agrandir Bold"/>
                <a:sym typeface="Agrandir Bold"/>
              </a:rPr>
              <a:t>Project Novelty</a:t>
            </a:r>
          </a:p>
          <a:p>
            <a:pPr algn="l">
              <a:lnSpc>
                <a:spcPts val="3920"/>
              </a:lnSpc>
              <a:spcBef>
                <a:spcPct val="0"/>
              </a:spcBef>
            </a:pPr>
            <a:r>
              <a:rPr lang="en-US" sz="2800" u="none" strike="noStrike">
                <a:solidFill>
                  <a:srgbClr val="000000"/>
                </a:solidFill>
                <a:latin typeface="Agrandir"/>
                <a:ea typeface="Agrandir"/>
                <a:cs typeface="Agrandir"/>
                <a:sym typeface="Agrandir"/>
              </a:rPr>
              <a:t>Unlike traditional keyword-based sentiment analysis, the proposed LLM approach can better understand context, identify multiple aspects within the same review, and capture more nuanced opinions.</a:t>
            </a:r>
          </a:p>
          <a:p>
            <a:pPr algn="l">
              <a:lnSpc>
                <a:spcPts val="3920"/>
              </a:lnSpc>
              <a:spcBef>
                <a:spcPct val="0"/>
              </a:spcBef>
            </a:pPr>
            <a:endParaRPr lang="en-US" sz="2800" u="none" strike="noStrike">
              <a:solidFill>
                <a:srgbClr val="000000"/>
              </a:solidFill>
              <a:latin typeface="Agrandir"/>
              <a:ea typeface="Agrandir"/>
              <a:cs typeface="Agrandir"/>
              <a:sym typeface="Agrandir"/>
            </a:endParaRPr>
          </a:p>
          <a:p>
            <a:pPr algn="l">
              <a:lnSpc>
                <a:spcPts val="3920"/>
              </a:lnSpc>
              <a:spcBef>
                <a:spcPct val="0"/>
              </a:spcBef>
            </a:pPr>
            <a:endParaRPr lang="en-US" sz="2800" u="none" strike="noStrike">
              <a:solidFill>
                <a:srgbClr val="000000"/>
              </a:solidFill>
              <a:latin typeface="Agrandir"/>
              <a:ea typeface="Agrandir"/>
              <a:cs typeface="Agrandir"/>
              <a:sym typeface="Agrandir"/>
            </a:endParaRPr>
          </a:p>
          <a:p>
            <a:pPr algn="l">
              <a:lnSpc>
                <a:spcPts val="3920"/>
              </a:lnSpc>
              <a:spcBef>
                <a:spcPct val="0"/>
              </a:spcBef>
            </a:pPr>
            <a:endParaRPr lang="en-US" sz="2800" u="none" strike="noStrike">
              <a:solidFill>
                <a:srgbClr val="000000"/>
              </a:solidFill>
              <a:latin typeface="Agrandir"/>
              <a:ea typeface="Agrandir"/>
              <a:cs typeface="Agrandir"/>
              <a:sym typeface="Agrandir"/>
            </a:endParaRPr>
          </a:p>
          <a:p>
            <a:pPr algn="l">
              <a:lnSpc>
                <a:spcPts val="3920"/>
              </a:lnSpc>
              <a:spcBef>
                <a:spcPct val="0"/>
              </a:spcBef>
            </a:pPr>
            <a:endParaRPr lang="en-US" sz="2800" u="none" strike="noStrike">
              <a:solidFill>
                <a:srgbClr val="000000"/>
              </a:solidFill>
              <a:latin typeface="Agrandir"/>
              <a:ea typeface="Agrandir"/>
              <a:cs typeface="Agrandir"/>
              <a:sym typeface="Agrandir"/>
            </a:endParaRPr>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7627" y="-1"/>
            <a:ext cx="1912627" cy="2592366"/>
          </a:xfrm>
          <a:custGeom>
            <a:avLst/>
            <a:gdLst/>
            <a:ahLst/>
            <a:cxnLst/>
            <a:rect l="l" t="t" r="r" b="b"/>
            <a:pathLst>
              <a:path w="2975865" h="4191359">
                <a:moveTo>
                  <a:pt x="0" y="0"/>
                </a:moveTo>
                <a:lnTo>
                  <a:pt x="2975865" y="0"/>
                </a:lnTo>
                <a:lnTo>
                  <a:pt x="2975865" y="4191360"/>
                </a:lnTo>
                <a:lnTo>
                  <a:pt x="0" y="419136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LID4096"/>
          </a:p>
        </p:txBody>
      </p:sp>
      <p:sp>
        <p:nvSpPr>
          <p:cNvPr id="3" name="Freeform 3"/>
          <p:cNvSpPr/>
          <p:nvPr/>
        </p:nvSpPr>
        <p:spPr>
          <a:xfrm flipH="1" flipV="1">
            <a:off x="15581661" y="-2"/>
            <a:ext cx="2661079" cy="3662306"/>
          </a:xfrm>
          <a:custGeom>
            <a:avLst/>
            <a:gdLst/>
            <a:ahLst/>
            <a:cxnLst/>
            <a:rect l="l" t="t" r="r" b="b"/>
            <a:pathLst>
              <a:path w="4949069" h="5216410">
                <a:moveTo>
                  <a:pt x="4949068" y="5216410"/>
                </a:moveTo>
                <a:lnTo>
                  <a:pt x="0" y="5216410"/>
                </a:lnTo>
                <a:lnTo>
                  <a:pt x="0" y="0"/>
                </a:lnTo>
                <a:lnTo>
                  <a:pt x="4949068" y="0"/>
                </a:lnTo>
                <a:lnTo>
                  <a:pt x="4949068" y="521641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LID4096" dirty="0"/>
          </a:p>
        </p:txBody>
      </p:sp>
      <p:sp>
        <p:nvSpPr>
          <p:cNvPr id="4" name="Freeform 4"/>
          <p:cNvSpPr/>
          <p:nvPr/>
        </p:nvSpPr>
        <p:spPr>
          <a:xfrm>
            <a:off x="2895643" y="2968632"/>
            <a:ext cx="1297136" cy="225377"/>
          </a:xfrm>
          <a:custGeom>
            <a:avLst/>
            <a:gdLst/>
            <a:ahLst/>
            <a:cxnLst/>
            <a:rect l="l" t="t" r="r" b="b"/>
            <a:pathLst>
              <a:path w="1297136" h="225377">
                <a:moveTo>
                  <a:pt x="0" y="0"/>
                </a:moveTo>
                <a:lnTo>
                  <a:pt x="1297136" y="0"/>
                </a:lnTo>
                <a:lnTo>
                  <a:pt x="1297136" y="225378"/>
                </a:lnTo>
                <a:lnTo>
                  <a:pt x="0" y="22537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LID4096"/>
          </a:p>
        </p:txBody>
      </p:sp>
      <p:sp>
        <p:nvSpPr>
          <p:cNvPr id="5" name="Freeform 5"/>
          <p:cNvSpPr/>
          <p:nvPr/>
        </p:nvSpPr>
        <p:spPr>
          <a:xfrm>
            <a:off x="9874420" y="2945655"/>
            <a:ext cx="1297136" cy="225377"/>
          </a:xfrm>
          <a:custGeom>
            <a:avLst/>
            <a:gdLst/>
            <a:ahLst/>
            <a:cxnLst/>
            <a:rect l="l" t="t" r="r" b="b"/>
            <a:pathLst>
              <a:path w="1297136" h="225377">
                <a:moveTo>
                  <a:pt x="0" y="0"/>
                </a:moveTo>
                <a:lnTo>
                  <a:pt x="1297136" y="0"/>
                </a:lnTo>
                <a:lnTo>
                  <a:pt x="1297136" y="225377"/>
                </a:lnTo>
                <a:lnTo>
                  <a:pt x="0" y="22537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LID4096"/>
          </a:p>
        </p:txBody>
      </p:sp>
      <p:sp>
        <p:nvSpPr>
          <p:cNvPr id="6" name="Freeform 6"/>
          <p:cNvSpPr/>
          <p:nvPr/>
        </p:nvSpPr>
        <p:spPr>
          <a:xfrm rot="10707653">
            <a:off x="13855043" y="3579290"/>
            <a:ext cx="1713038" cy="1034246"/>
          </a:xfrm>
          <a:custGeom>
            <a:avLst/>
            <a:gdLst/>
            <a:ahLst/>
            <a:cxnLst/>
            <a:rect l="l" t="t" r="r" b="b"/>
            <a:pathLst>
              <a:path w="1713038" h="1034246">
                <a:moveTo>
                  <a:pt x="0" y="0"/>
                </a:moveTo>
                <a:lnTo>
                  <a:pt x="1713037" y="0"/>
                </a:lnTo>
                <a:lnTo>
                  <a:pt x="1713037" y="1034246"/>
                </a:lnTo>
                <a:lnTo>
                  <a:pt x="0" y="103424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7" name="TextBox 7"/>
          <p:cNvSpPr txBox="1"/>
          <p:nvPr/>
        </p:nvSpPr>
        <p:spPr>
          <a:xfrm>
            <a:off x="214132" y="4071241"/>
            <a:ext cx="5375489" cy="565114"/>
          </a:xfrm>
          <a:prstGeom prst="rect">
            <a:avLst/>
          </a:prstGeom>
        </p:spPr>
        <p:txBody>
          <a:bodyPr lIns="0" tIns="0" rIns="0" bIns="0" rtlCol="0" anchor="t">
            <a:spAutoFit/>
          </a:bodyPr>
          <a:lstStyle/>
          <a:p>
            <a:pPr algn="l">
              <a:lnSpc>
                <a:spcPts val="4026"/>
              </a:lnSpc>
            </a:pPr>
            <a:r>
              <a:rPr lang="en-US" sz="2876" b="1">
                <a:solidFill>
                  <a:srgbClr val="00357A"/>
                </a:solidFill>
                <a:latin typeface="Agrandir Bold"/>
                <a:ea typeface="Agrandir Bold"/>
                <a:cs typeface="Agrandir Bold"/>
                <a:sym typeface="Agrandir Bold"/>
              </a:rPr>
              <a:t>ABSA Dataset Formatting</a:t>
            </a:r>
          </a:p>
        </p:txBody>
      </p:sp>
      <p:sp>
        <p:nvSpPr>
          <p:cNvPr id="8" name="Freeform 8"/>
          <p:cNvSpPr/>
          <p:nvPr/>
        </p:nvSpPr>
        <p:spPr>
          <a:xfrm rot="-10800000">
            <a:off x="5337819" y="4307784"/>
            <a:ext cx="1297136" cy="225377"/>
          </a:xfrm>
          <a:custGeom>
            <a:avLst/>
            <a:gdLst/>
            <a:ahLst/>
            <a:cxnLst/>
            <a:rect l="l" t="t" r="r" b="b"/>
            <a:pathLst>
              <a:path w="1297136" h="225377">
                <a:moveTo>
                  <a:pt x="0" y="0"/>
                </a:moveTo>
                <a:lnTo>
                  <a:pt x="1297136" y="0"/>
                </a:lnTo>
                <a:lnTo>
                  <a:pt x="1297136" y="225378"/>
                </a:lnTo>
                <a:lnTo>
                  <a:pt x="0" y="22537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LID4096"/>
          </a:p>
        </p:txBody>
      </p:sp>
      <p:sp>
        <p:nvSpPr>
          <p:cNvPr id="9" name="Freeform 9"/>
          <p:cNvSpPr/>
          <p:nvPr/>
        </p:nvSpPr>
        <p:spPr>
          <a:xfrm rot="5400000">
            <a:off x="1991537" y="5172234"/>
            <a:ext cx="1297136" cy="225377"/>
          </a:xfrm>
          <a:custGeom>
            <a:avLst/>
            <a:gdLst/>
            <a:ahLst/>
            <a:cxnLst/>
            <a:rect l="l" t="t" r="r" b="b"/>
            <a:pathLst>
              <a:path w="1297136" h="225377">
                <a:moveTo>
                  <a:pt x="0" y="0"/>
                </a:moveTo>
                <a:lnTo>
                  <a:pt x="1297136" y="0"/>
                </a:lnTo>
                <a:lnTo>
                  <a:pt x="1297136" y="225377"/>
                </a:lnTo>
                <a:lnTo>
                  <a:pt x="0" y="22537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LID4096"/>
          </a:p>
        </p:txBody>
      </p:sp>
      <p:grpSp>
        <p:nvGrpSpPr>
          <p:cNvPr id="10" name="Group 10"/>
          <p:cNvGrpSpPr/>
          <p:nvPr/>
        </p:nvGrpSpPr>
        <p:grpSpPr>
          <a:xfrm>
            <a:off x="10887111" y="6789322"/>
            <a:ext cx="5172249" cy="3261324"/>
            <a:chOff x="0" y="0"/>
            <a:chExt cx="1362238" cy="858949"/>
          </a:xfrm>
        </p:grpSpPr>
        <p:sp>
          <p:nvSpPr>
            <p:cNvPr id="11" name="Freeform 11"/>
            <p:cNvSpPr/>
            <p:nvPr/>
          </p:nvSpPr>
          <p:spPr>
            <a:xfrm>
              <a:off x="0" y="0"/>
              <a:ext cx="1362238" cy="858949"/>
            </a:xfrm>
            <a:custGeom>
              <a:avLst/>
              <a:gdLst/>
              <a:ahLst/>
              <a:cxnLst/>
              <a:rect l="l" t="t" r="r" b="b"/>
              <a:pathLst>
                <a:path w="1362238" h="858949">
                  <a:moveTo>
                    <a:pt x="76338" y="0"/>
                  </a:moveTo>
                  <a:lnTo>
                    <a:pt x="1285901" y="0"/>
                  </a:lnTo>
                  <a:cubicBezTo>
                    <a:pt x="1306147" y="0"/>
                    <a:pt x="1325563" y="8043"/>
                    <a:pt x="1339880" y="22359"/>
                  </a:cubicBezTo>
                  <a:cubicBezTo>
                    <a:pt x="1354196" y="36675"/>
                    <a:pt x="1362238" y="56092"/>
                    <a:pt x="1362238" y="76338"/>
                  </a:cubicBezTo>
                  <a:lnTo>
                    <a:pt x="1362238" y="782612"/>
                  </a:lnTo>
                  <a:cubicBezTo>
                    <a:pt x="1362238" y="802858"/>
                    <a:pt x="1354196" y="822275"/>
                    <a:pt x="1339880" y="836591"/>
                  </a:cubicBezTo>
                  <a:cubicBezTo>
                    <a:pt x="1325563" y="850907"/>
                    <a:pt x="1306147" y="858949"/>
                    <a:pt x="1285901" y="858949"/>
                  </a:cubicBezTo>
                  <a:lnTo>
                    <a:pt x="76338" y="858949"/>
                  </a:lnTo>
                  <a:cubicBezTo>
                    <a:pt x="56092" y="858949"/>
                    <a:pt x="36675" y="850907"/>
                    <a:pt x="22359" y="836591"/>
                  </a:cubicBezTo>
                  <a:cubicBezTo>
                    <a:pt x="8043" y="822275"/>
                    <a:pt x="0" y="802858"/>
                    <a:pt x="0" y="782612"/>
                  </a:cubicBezTo>
                  <a:lnTo>
                    <a:pt x="0" y="76338"/>
                  </a:lnTo>
                  <a:cubicBezTo>
                    <a:pt x="0" y="56092"/>
                    <a:pt x="8043" y="36675"/>
                    <a:pt x="22359" y="22359"/>
                  </a:cubicBezTo>
                  <a:cubicBezTo>
                    <a:pt x="36675" y="8043"/>
                    <a:pt x="56092" y="0"/>
                    <a:pt x="76338" y="0"/>
                  </a:cubicBezTo>
                  <a:close/>
                </a:path>
              </a:pathLst>
            </a:custGeom>
            <a:solidFill>
              <a:srgbClr val="BED9FD"/>
            </a:solidFill>
          </p:spPr>
          <p:txBody>
            <a:bodyPr/>
            <a:lstStyle/>
            <a:p>
              <a:endParaRPr lang="LID4096"/>
            </a:p>
          </p:txBody>
        </p:sp>
        <p:sp>
          <p:nvSpPr>
            <p:cNvPr id="12" name="TextBox 12"/>
            <p:cNvSpPr txBox="1"/>
            <p:nvPr/>
          </p:nvSpPr>
          <p:spPr>
            <a:xfrm>
              <a:off x="0" y="-47625"/>
              <a:ext cx="1362238" cy="906574"/>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4564254" y="2732089"/>
            <a:ext cx="5088408" cy="565114"/>
          </a:xfrm>
          <a:prstGeom prst="rect">
            <a:avLst/>
          </a:prstGeom>
        </p:spPr>
        <p:txBody>
          <a:bodyPr lIns="0" tIns="0" rIns="0" bIns="0" rtlCol="0" anchor="t">
            <a:spAutoFit/>
          </a:bodyPr>
          <a:lstStyle/>
          <a:p>
            <a:pPr algn="l">
              <a:lnSpc>
                <a:spcPts val="4026"/>
              </a:lnSpc>
            </a:pPr>
            <a:r>
              <a:rPr lang="en-US" sz="2876" b="1">
                <a:solidFill>
                  <a:srgbClr val="00357A"/>
                </a:solidFill>
                <a:latin typeface="Agrandir Bold"/>
                <a:ea typeface="Agrandir Bold"/>
                <a:cs typeface="Agrandir Bold"/>
                <a:sym typeface="Agrandir Bold"/>
              </a:rPr>
              <a:t>Aspect &amp; Nuance Definition</a:t>
            </a:r>
          </a:p>
        </p:txBody>
      </p:sp>
      <p:sp>
        <p:nvSpPr>
          <p:cNvPr id="14" name="TextBox 14"/>
          <p:cNvSpPr txBox="1"/>
          <p:nvPr/>
        </p:nvSpPr>
        <p:spPr>
          <a:xfrm>
            <a:off x="3417828" y="685016"/>
            <a:ext cx="10423634" cy="1793585"/>
          </a:xfrm>
          <a:prstGeom prst="rect">
            <a:avLst/>
          </a:prstGeom>
        </p:spPr>
        <p:txBody>
          <a:bodyPr lIns="0" tIns="0" rIns="0" bIns="0" rtlCol="0" anchor="t">
            <a:spAutoFit/>
          </a:bodyPr>
          <a:lstStyle/>
          <a:p>
            <a:pPr algn="ctr">
              <a:lnSpc>
                <a:spcPts val="6986"/>
              </a:lnSpc>
            </a:pPr>
            <a:r>
              <a:rPr lang="en-US" sz="6590">
                <a:solidFill>
                  <a:srgbClr val="00357A"/>
                </a:solidFill>
                <a:latin typeface="Fredoka"/>
                <a:ea typeface="Fredoka"/>
                <a:cs typeface="Fredoka"/>
                <a:sym typeface="Fredoka"/>
              </a:rPr>
              <a:t>Processing Pipeline &amp; Dataset</a:t>
            </a:r>
          </a:p>
        </p:txBody>
      </p:sp>
      <p:sp>
        <p:nvSpPr>
          <p:cNvPr id="15" name="TextBox 15"/>
          <p:cNvSpPr txBox="1"/>
          <p:nvPr/>
        </p:nvSpPr>
        <p:spPr>
          <a:xfrm>
            <a:off x="214132" y="2732089"/>
            <a:ext cx="2313285" cy="565114"/>
          </a:xfrm>
          <a:prstGeom prst="rect">
            <a:avLst/>
          </a:prstGeom>
        </p:spPr>
        <p:txBody>
          <a:bodyPr lIns="0" tIns="0" rIns="0" bIns="0" rtlCol="0" anchor="t">
            <a:spAutoFit/>
          </a:bodyPr>
          <a:lstStyle/>
          <a:p>
            <a:pPr algn="l">
              <a:lnSpc>
                <a:spcPts val="4026"/>
              </a:lnSpc>
            </a:pPr>
            <a:r>
              <a:rPr lang="en-US" sz="2876" b="1">
                <a:solidFill>
                  <a:srgbClr val="00357A"/>
                </a:solidFill>
                <a:latin typeface="Agrandir Bold"/>
                <a:ea typeface="Agrandir Bold"/>
                <a:cs typeface="Agrandir Bold"/>
                <a:sym typeface="Agrandir Bold"/>
              </a:rPr>
              <a:t>Medical PDF</a:t>
            </a:r>
          </a:p>
        </p:txBody>
      </p:sp>
      <p:sp>
        <p:nvSpPr>
          <p:cNvPr id="16" name="TextBox 16"/>
          <p:cNvSpPr txBox="1"/>
          <p:nvPr/>
        </p:nvSpPr>
        <p:spPr>
          <a:xfrm>
            <a:off x="11699406" y="2592365"/>
            <a:ext cx="4651473" cy="1069939"/>
          </a:xfrm>
          <a:prstGeom prst="rect">
            <a:avLst/>
          </a:prstGeom>
        </p:spPr>
        <p:txBody>
          <a:bodyPr lIns="0" tIns="0" rIns="0" bIns="0" rtlCol="0" anchor="t">
            <a:spAutoFit/>
          </a:bodyPr>
          <a:lstStyle/>
          <a:p>
            <a:pPr algn="l">
              <a:lnSpc>
                <a:spcPts val="4026"/>
              </a:lnSpc>
            </a:pPr>
            <a:r>
              <a:rPr lang="en-US" sz="2876" b="1">
                <a:solidFill>
                  <a:srgbClr val="00357A"/>
                </a:solidFill>
                <a:latin typeface="Agrandir Bold"/>
                <a:ea typeface="Agrandir Bold"/>
                <a:cs typeface="Agrandir Bold"/>
                <a:sym typeface="Agrandir Bold"/>
              </a:rPr>
              <a:t>Controlled Synthetic Review Generation</a:t>
            </a:r>
          </a:p>
        </p:txBody>
      </p:sp>
      <p:sp>
        <p:nvSpPr>
          <p:cNvPr id="17" name="TextBox 17"/>
          <p:cNvSpPr txBox="1"/>
          <p:nvPr/>
        </p:nvSpPr>
        <p:spPr>
          <a:xfrm>
            <a:off x="6836287" y="4071241"/>
            <a:ext cx="6636949" cy="565114"/>
          </a:xfrm>
          <a:prstGeom prst="rect">
            <a:avLst/>
          </a:prstGeom>
        </p:spPr>
        <p:txBody>
          <a:bodyPr lIns="0" tIns="0" rIns="0" bIns="0" rtlCol="0" anchor="t">
            <a:spAutoFit/>
          </a:bodyPr>
          <a:lstStyle/>
          <a:p>
            <a:pPr algn="l">
              <a:lnSpc>
                <a:spcPts val="4026"/>
              </a:lnSpc>
            </a:pPr>
            <a:r>
              <a:rPr lang="en-US" sz="2876" b="1">
                <a:solidFill>
                  <a:srgbClr val="00357A"/>
                </a:solidFill>
                <a:latin typeface="Agrandir Bold"/>
                <a:ea typeface="Agrandir Bold"/>
                <a:cs typeface="Agrandir Bold"/>
                <a:sym typeface="Agrandir Bold"/>
              </a:rPr>
              <a:t>Validation &amp; Consistency Checks</a:t>
            </a:r>
          </a:p>
        </p:txBody>
      </p:sp>
      <p:sp>
        <p:nvSpPr>
          <p:cNvPr id="18" name="TextBox 18"/>
          <p:cNvSpPr txBox="1"/>
          <p:nvPr/>
        </p:nvSpPr>
        <p:spPr>
          <a:xfrm>
            <a:off x="214132" y="5904916"/>
            <a:ext cx="6894326" cy="1069939"/>
          </a:xfrm>
          <a:prstGeom prst="rect">
            <a:avLst/>
          </a:prstGeom>
        </p:spPr>
        <p:txBody>
          <a:bodyPr lIns="0" tIns="0" rIns="0" bIns="0" rtlCol="0" anchor="t">
            <a:spAutoFit/>
          </a:bodyPr>
          <a:lstStyle/>
          <a:p>
            <a:pPr algn="l">
              <a:lnSpc>
                <a:spcPts val="4026"/>
              </a:lnSpc>
            </a:pPr>
            <a:r>
              <a:rPr lang="en-US" sz="2876" b="1">
                <a:solidFill>
                  <a:srgbClr val="00357A"/>
                </a:solidFill>
                <a:latin typeface="Agrandir Bold"/>
                <a:ea typeface="Agrandir Bold"/>
                <a:cs typeface="Agrandir Bold"/>
                <a:sym typeface="Agrandir Bold"/>
              </a:rPr>
              <a:t>Fine-tuning RoBERTa-base</a:t>
            </a:r>
          </a:p>
          <a:p>
            <a:pPr algn="l">
              <a:lnSpc>
                <a:spcPts val="4026"/>
              </a:lnSpc>
            </a:pPr>
            <a:endParaRPr lang="en-US" sz="2876" b="1">
              <a:solidFill>
                <a:srgbClr val="00357A"/>
              </a:solidFill>
              <a:latin typeface="Agrandir Bold"/>
              <a:ea typeface="Agrandir Bold"/>
              <a:cs typeface="Agrandir Bold"/>
              <a:sym typeface="Agrandir Bold"/>
            </a:endParaRPr>
          </a:p>
        </p:txBody>
      </p:sp>
      <p:sp>
        <p:nvSpPr>
          <p:cNvPr id="19" name="TextBox 19"/>
          <p:cNvSpPr txBox="1"/>
          <p:nvPr/>
        </p:nvSpPr>
        <p:spPr>
          <a:xfrm>
            <a:off x="11171556" y="6932197"/>
            <a:ext cx="5375489" cy="3118449"/>
          </a:xfrm>
          <a:prstGeom prst="rect">
            <a:avLst/>
          </a:prstGeom>
        </p:spPr>
        <p:txBody>
          <a:bodyPr lIns="0" tIns="0" rIns="0" bIns="0" rtlCol="0" anchor="t">
            <a:spAutoFit/>
          </a:bodyPr>
          <a:lstStyle/>
          <a:p>
            <a:pPr algn="l">
              <a:lnSpc>
                <a:spcPts val="3467"/>
              </a:lnSpc>
            </a:pPr>
            <a:r>
              <a:rPr lang="en-US" sz="2476" b="1">
                <a:solidFill>
                  <a:srgbClr val="000000"/>
                </a:solidFill>
                <a:latin typeface="Agrandir Bold"/>
                <a:ea typeface="Agrandir Bold"/>
                <a:cs typeface="Agrandir Bold"/>
                <a:sym typeface="Agrandir Bold"/>
              </a:rPr>
              <a:t>Dataset</a:t>
            </a:r>
          </a:p>
          <a:p>
            <a:pPr marL="534662" lvl="1" indent="-267331" algn="l">
              <a:lnSpc>
                <a:spcPts val="3467"/>
              </a:lnSpc>
              <a:buFont typeface="Arial"/>
              <a:buChar char="•"/>
            </a:pPr>
            <a:r>
              <a:rPr lang="en-US" sz="2476">
                <a:solidFill>
                  <a:srgbClr val="000000"/>
                </a:solidFill>
                <a:latin typeface="Agrandir"/>
                <a:ea typeface="Agrandir"/>
                <a:cs typeface="Agrandir"/>
                <a:sym typeface="Agrandir"/>
              </a:rPr>
              <a:t>10,000 synthetic reviews</a:t>
            </a:r>
          </a:p>
          <a:p>
            <a:pPr marL="534662" lvl="1" indent="-267331" algn="l">
              <a:lnSpc>
                <a:spcPts val="3467"/>
              </a:lnSpc>
              <a:buFont typeface="Arial"/>
              <a:buChar char="•"/>
            </a:pPr>
            <a:r>
              <a:rPr lang="en-US" sz="2476">
                <a:solidFill>
                  <a:srgbClr val="000000"/>
                </a:solidFill>
                <a:latin typeface="Agrandir"/>
                <a:ea typeface="Agrandir"/>
                <a:cs typeface="Agrandir"/>
                <a:sym typeface="Agrandir"/>
              </a:rPr>
              <a:t>24,921 aspect-level samples</a:t>
            </a:r>
          </a:p>
          <a:p>
            <a:pPr marL="534662" lvl="1" indent="-267331" algn="l">
              <a:lnSpc>
                <a:spcPts val="3467"/>
              </a:lnSpc>
              <a:buFont typeface="Arial"/>
              <a:buChar char="•"/>
            </a:pPr>
            <a:r>
              <a:rPr lang="en-US" sz="2476">
                <a:solidFill>
                  <a:srgbClr val="000000"/>
                </a:solidFill>
                <a:latin typeface="Agrandir"/>
                <a:ea typeface="Agrandir"/>
                <a:cs typeface="Agrandir"/>
                <a:sym typeface="Agrandir"/>
              </a:rPr>
              <a:t>8 predefined aspects</a:t>
            </a:r>
          </a:p>
          <a:p>
            <a:pPr marL="534662" lvl="1" indent="-267331" algn="l">
              <a:lnSpc>
                <a:spcPts val="3467"/>
              </a:lnSpc>
              <a:buFont typeface="Arial"/>
              <a:buChar char="•"/>
            </a:pPr>
            <a:r>
              <a:rPr lang="en-US" sz="2476">
                <a:solidFill>
                  <a:srgbClr val="000000"/>
                </a:solidFill>
                <a:latin typeface="Agrandir"/>
                <a:ea typeface="Agrandir"/>
                <a:cs typeface="Agrandir"/>
                <a:sym typeface="Agrandir"/>
              </a:rPr>
              <a:t>4 sentiment classes</a:t>
            </a:r>
          </a:p>
          <a:p>
            <a:pPr algn="l">
              <a:lnSpc>
                <a:spcPts val="3467"/>
              </a:lnSpc>
            </a:pPr>
            <a:endParaRPr lang="en-US" sz="2476">
              <a:solidFill>
                <a:srgbClr val="000000"/>
              </a:solidFill>
              <a:latin typeface="Agrandir"/>
              <a:ea typeface="Agrandir"/>
              <a:cs typeface="Agrandir"/>
              <a:sym typeface="Agrandir"/>
            </a:endParaRPr>
          </a:p>
          <a:p>
            <a:pPr algn="l">
              <a:lnSpc>
                <a:spcPts val="3467"/>
              </a:lnSpc>
            </a:pPr>
            <a:endParaRPr lang="en-US" sz="2476">
              <a:solidFill>
                <a:srgbClr val="000000"/>
              </a:solidFill>
              <a:latin typeface="Agrandir"/>
              <a:ea typeface="Agrandir"/>
              <a:cs typeface="Agrandir"/>
              <a:sym typeface="Agrandir"/>
            </a:endParaRPr>
          </a:p>
        </p:txBody>
      </p:sp>
    </p:spTree>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186950" y="622445"/>
            <a:ext cx="10423634" cy="907760"/>
          </a:xfrm>
          <a:prstGeom prst="rect">
            <a:avLst/>
          </a:prstGeom>
        </p:spPr>
        <p:txBody>
          <a:bodyPr lIns="0" tIns="0" rIns="0" bIns="0" rtlCol="0" anchor="t">
            <a:spAutoFit/>
          </a:bodyPr>
          <a:lstStyle/>
          <a:p>
            <a:pPr algn="ctr">
              <a:lnSpc>
                <a:spcPts val="6986"/>
              </a:lnSpc>
            </a:pPr>
            <a:r>
              <a:rPr lang="en-US" sz="6590">
                <a:solidFill>
                  <a:srgbClr val="00357A"/>
                </a:solidFill>
                <a:latin typeface="Fredoka"/>
                <a:ea typeface="Fredoka"/>
                <a:cs typeface="Fredoka"/>
                <a:sym typeface="Fredoka"/>
              </a:rPr>
              <a:t>Validation</a:t>
            </a:r>
          </a:p>
        </p:txBody>
      </p:sp>
      <p:sp>
        <p:nvSpPr>
          <p:cNvPr id="3" name="TextBox 3"/>
          <p:cNvSpPr txBox="1"/>
          <p:nvPr/>
        </p:nvSpPr>
        <p:spPr>
          <a:xfrm>
            <a:off x="4186950" y="1795780"/>
            <a:ext cx="8756100" cy="9615170"/>
          </a:xfrm>
          <a:prstGeom prst="rect">
            <a:avLst/>
          </a:prstGeom>
        </p:spPr>
        <p:txBody>
          <a:bodyPr lIns="0" tIns="0" rIns="0" bIns="0" rtlCol="0" anchor="t">
            <a:spAutoFit/>
          </a:bodyPr>
          <a:lstStyle/>
          <a:p>
            <a:pPr marL="690881" lvl="1" indent="-345440" algn="l">
              <a:lnSpc>
                <a:spcPts val="4480"/>
              </a:lnSpc>
              <a:spcBef>
                <a:spcPct val="0"/>
              </a:spcBef>
              <a:buFont typeface="Arial"/>
              <a:buChar char="•"/>
            </a:pPr>
            <a:r>
              <a:rPr lang="en-US" sz="3200" u="none" strike="noStrike">
                <a:solidFill>
                  <a:srgbClr val="000000"/>
                </a:solidFill>
                <a:latin typeface="Agrandir"/>
                <a:ea typeface="Agrandir"/>
                <a:cs typeface="Agrandir"/>
                <a:sym typeface="Agrandir"/>
              </a:rPr>
              <a:t>JSON validation</a:t>
            </a:r>
          </a:p>
          <a:p>
            <a:pPr marL="690881" lvl="1" indent="-345440" algn="l">
              <a:lnSpc>
                <a:spcPts val="4480"/>
              </a:lnSpc>
              <a:spcBef>
                <a:spcPct val="0"/>
              </a:spcBef>
              <a:buFont typeface="Arial"/>
              <a:buChar char="•"/>
            </a:pPr>
            <a:r>
              <a:rPr lang="en-US" sz="3200" u="none" strike="noStrike">
                <a:solidFill>
                  <a:srgbClr val="000000"/>
                </a:solidFill>
                <a:latin typeface="Agrandir"/>
                <a:ea typeface="Agrandir"/>
                <a:cs typeface="Agrandir"/>
                <a:sym typeface="Agrandir"/>
              </a:rPr>
              <a:t>Duplicate detection</a:t>
            </a:r>
          </a:p>
          <a:p>
            <a:pPr marL="690881" lvl="1" indent="-345440" algn="l">
              <a:lnSpc>
                <a:spcPts val="4480"/>
              </a:lnSpc>
              <a:spcBef>
                <a:spcPct val="0"/>
              </a:spcBef>
              <a:buFont typeface="Arial"/>
              <a:buChar char="•"/>
            </a:pPr>
            <a:r>
              <a:rPr lang="en-US" sz="3200" u="none" strike="noStrike">
                <a:solidFill>
                  <a:srgbClr val="000000"/>
                </a:solidFill>
                <a:latin typeface="Agrandir"/>
                <a:ea typeface="Agrandir"/>
                <a:cs typeface="Agrandir"/>
                <a:sym typeface="Agrandir"/>
              </a:rPr>
              <a:t>Label consistency checks</a:t>
            </a:r>
          </a:p>
          <a:p>
            <a:pPr marL="690881" lvl="1" indent="-345440" algn="l">
              <a:lnSpc>
                <a:spcPts val="4480"/>
              </a:lnSpc>
              <a:spcBef>
                <a:spcPct val="0"/>
              </a:spcBef>
              <a:buFont typeface="Arial"/>
              <a:buChar char="•"/>
            </a:pPr>
            <a:r>
              <a:rPr lang="en-US" sz="3200" u="none" strike="noStrike">
                <a:solidFill>
                  <a:srgbClr val="000000"/>
                </a:solidFill>
                <a:latin typeface="Agrandir"/>
                <a:ea typeface="Agrandir"/>
                <a:cs typeface="Agrandir"/>
                <a:sym typeface="Agrandir"/>
              </a:rPr>
              <a:t>Sentiment Class Distribution Analysis</a:t>
            </a:r>
          </a:p>
          <a:p>
            <a:pPr marL="0" lvl="0" indent="0" algn="ctr">
              <a:lnSpc>
                <a:spcPts val="4480"/>
              </a:lnSpc>
              <a:spcBef>
                <a:spcPct val="0"/>
              </a:spcBef>
            </a:pPr>
            <a:r>
              <a:rPr lang="en-US" sz="3200" u="none" strike="noStrike">
                <a:solidFill>
                  <a:srgbClr val="000000"/>
                </a:solidFill>
                <a:latin typeface="Agrandir"/>
                <a:ea typeface="Agrandir"/>
                <a:cs typeface="Agrandir"/>
                <a:sym typeface="Agrandir"/>
              </a:rPr>
              <a:t> negative: 6,275</a:t>
            </a:r>
          </a:p>
          <a:p>
            <a:pPr marL="0" lvl="0" indent="0" algn="ctr">
              <a:lnSpc>
                <a:spcPts val="4480"/>
              </a:lnSpc>
              <a:spcBef>
                <a:spcPct val="0"/>
              </a:spcBef>
            </a:pPr>
            <a:r>
              <a:rPr lang="en-US" sz="3200" u="none" strike="noStrike">
                <a:solidFill>
                  <a:srgbClr val="000000"/>
                </a:solidFill>
                <a:latin typeface="Agrandir"/>
                <a:ea typeface="Agrandir"/>
                <a:cs typeface="Agrandir"/>
                <a:sym typeface="Agrandir"/>
              </a:rPr>
              <a:t>positive: 6,261</a:t>
            </a:r>
          </a:p>
          <a:p>
            <a:pPr marL="0" lvl="0" indent="0" algn="ctr">
              <a:lnSpc>
                <a:spcPts val="4480"/>
              </a:lnSpc>
              <a:spcBef>
                <a:spcPct val="0"/>
              </a:spcBef>
            </a:pPr>
            <a:r>
              <a:rPr lang="en-US" sz="3200" u="none" strike="noStrike">
                <a:solidFill>
                  <a:srgbClr val="000000"/>
                </a:solidFill>
                <a:latin typeface="Agrandir"/>
                <a:ea typeface="Agrandir"/>
                <a:cs typeface="Agrandir"/>
                <a:sym typeface="Agrandir"/>
              </a:rPr>
              <a:t>neutral: 6,230</a:t>
            </a:r>
          </a:p>
          <a:p>
            <a:pPr marL="0" lvl="0" indent="0" algn="ctr">
              <a:lnSpc>
                <a:spcPts val="4480"/>
              </a:lnSpc>
              <a:spcBef>
                <a:spcPct val="0"/>
              </a:spcBef>
            </a:pPr>
            <a:r>
              <a:rPr lang="en-US" sz="3200" u="none" strike="noStrike">
                <a:solidFill>
                  <a:srgbClr val="000000"/>
                </a:solidFill>
                <a:latin typeface="Agrandir"/>
                <a:ea typeface="Agrandir"/>
                <a:cs typeface="Agrandir"/>
                <a:sym typeface="Agrandir"/>
              </a:rPr>
              <a:t>mixed: 6,155</a:t>
            </a:r>
          </a:p>
          <a:p>
            <a:pPr marL="690881" lvl="1" indent="-345440" algn="l">
              <a:lnSpc>
                <a:spcPts val="4480"/>
              </a:lnSpc>
              <a:spcBef>
                <a:spcPct val="0"/>
              </a:spcBef>
              <a:buFont typeface="Arial"/>
              <a:buChar char="•"/>
            </a:pPr>
            <a:r>
              <a:rPr lang="en-US" sz="3200" u="none" strike="noStrike">
                <a:solidFill>
                  <a:srgbClr val="000000"/>
                </a:solidFill>
                <a:latin typeface="Agrandir"/>
                <a:ea typeface="Agrandir"/>
                <a:cs typeface="Agrandir"/>
                <a:sym typeface="Agrandir"/>
              </a:rPr>
              <a:t>Aspect Distribution Analysis</a:t>
            </a:r>
          </a:p>
          <a:p>
            <a:pPr marL="0" lvl="0" indent="0" algn="ctr">
              <a:lnSpc>
                <a:spcPts val="4480"/>
              </a:lnSpc>
              <a:spcBef>
                <a:spcPct val="0"/>
              </a:spcBef>
            </a:pPr>
            <a:r>
              <a:rPr lang="en-US" sz="3200" u="none" strike="noStrike">
                <a:solidFill>
                  <a:srgbClr val="000000"/>
                </a:solidFill>
                <a:latin typeface="Agrandir"/>
                <a:ea typeface="Agrandir"/>
                <a:cs typeface="Agrandir"/>
                <a:sym typeface="Agrandir"/>
              </a:rPr>
              <a:t>      ~3,080–3,140 samples per aspect</a:t>
            </a:r>
          </a:p>
          <a:p>
            <a:pPr marL="690881" lvl="1" indent="-345440" algn="l">
              <a:lnSpc>
                <a:spcPts val="4480"/>
              </a:lnSpc>
              <a:buFont typeface="Arial"/>
              <a:buChar char="•"/>
            </a:pPr>
            <a:r>
              <a:rPr lang="en-US" sz="3200" u="none" strike="noStrike">
                <a:solidFill>
                  <a:srgbClr val="000000"/>
                </a:solidFill>
                <a:latin typeface="Agrandir"/>
                <a:ea typeface="Agrandir"/>
                <a:cs typeface="Agrandir"/>
                <a:sym typeface="Agrandir"/>
              </a:rPr>
              <a:t>Manual human review sample</a:t>
            </a:r>
          </a:p>
          <a:p>
            <a:pPr marL="690881" lvl="1" indent="-345440" algn="l">
              <a:lnSpc>
                <a:spcPts val="4480"/>
              </a:lnSpc>
              <a:spcBef>
                <a:spcPct val="0"/>
              </a:spcBef>
              <a:buFont typeface="Arial"/>
              <a:buChar char="•"/>
            </a:pPr>
            <a:r>
              <a:rPr lang="en-US" sz="3200" u="none" strike="noStrike">
                <a:solidFill>
                  <a:srgbClr val="000000"/>
                </a:solidFill>
                <a:latin typeface="Agrandir"/>
                <a:ea typeface="Agrandir"/>
                <a:cs typeface="Agrandir"/>
                <a:sym typeface="Agrandir"/>
              </a:rPr>
              <a:t>LLM consistency audit</a:t>
            </a:r>
          </a:p>
          <a:p>
            <a:pPr marL="0" lvl="0" indent="0" algn="l">
              <a:lnSpc>
                <a:spcPts val="4480"/>
              </a:lnSpc>
              <a:spcBef>
                <a:spcPct val="0"/>
              </a:spcBef>
            </a:pPr>
            <a:r>
              <a:rPr lang="en-US" sz="3200" u="none" strike="noStrike">
                <a:solidFill>
                  <a:srgbClr val="000000"/>
                </a:solidFill>
                <a:latin typeface="Agrandir"/>
                <a:ea typeface="Agrandir"/>
                <a:cs typeface="Agrandir"/>
                <a:sym typeface="Agrandir"/>
              </a:rPr>
              <a:t>            95.16% consistency rate</a:t>
            </a:r>
          </a:p>
          <a:p>
            <a:pPr marL="0" lvl="0" indent="0" algn="ctr">
              <a:lnSpc>
                <a:spcPts val="4480"/>
              </a:lnSpc>
              <a:spcBef>
                <a:spcPct val="0"/>
              </a:spcBef>
            </a:pPr>
            <a:endParaRPr lang="en-US" sz="3200" u="none" strike="noStrike">
              <a:solidFill>
                <a:srgbClr val="000000"/>
              </a:solidFill>
              <a:latin typeface="Agrandir"/>
              <a:ea typeface="Agrandir"/>
              <a:cs typeface="Agrandir"/>
              <a:sym typeface="Agrandir"/>
            </a:endParaRPr>
          </a:p>
          <a:p>
            <a:pPr marL="0" lvl="0" indent="0" algn="ctr">
              <a:lnSpc>
                <a:spcPts val="4480"/>
              </a:lnSpc>
              <a:spcBef>
                <a:spcPct val="0"/>
              </a:spcBef>
            </a:pPr>
            <a:endParaRPr lang="en-US" sz="3200" u="none" strike="noStrike">
              <a:solidFill>
                <a:srgbClr val="000000"/>
              </a:solidFill>
              <a:latin typeface="Agrandir"/>
              <a:ea typeface="Agrandir"/>
              <a:cs typeface="Agrandir"/>
              <a:sym typeface="Agrandir"/>
            </a:endParaRPr>
          </a:p>
          <a:p>
            <a:pPr marL="0" lvl="0" indent="0" algn="ctr">
              <a:lnSpc>
                <a:spcPts val="4480"/>
              </a:lnSpc>
              <a:spcBef>
                <a:spcPct val="0"/>
              </a:spcBef>
            </a:pPr>
            <a:endParaRPr lang="en-US" sz="3200" u="none" strike="noStrike">
              <a:solidFill>
                <a:srgbClr val="000000"/>
              </a:solidFill>
              <a:latin typeface="Agrandir"/>
              <a:ea typeface="Agrandir"/>
              <a:cs typeface="Agrandir"/>
              <a:sym typeface="Agrandir"/>
            </a:endParaRPr>
          </a:p>
          <a:p>
            <a:pPr marL="0" lvl="0" indent="0" algn="ctr">
              <a:lnSpc>
                <a:spcPts val="4480"/>
              </a:lnSpc>
              <a:spcBef>
                <a:spcPct val="0"/>
              </a:spcBef>
            </a:pPr>
            <a:endParaRPr lang="en-US" sz="3200" u="none" strike="noStrike">
              <a:solidFill>
                <a:srgbClr val="000000"/>
              </a:solidFill>
              <a:latin typeface="Agrandir"/>
              <a:ea typeface="Agrandir"/>
              <a:cs typeface="Agrandir"/>
              <a:sym typeface="Agrandir"/>
            </a:endParaRPr>
          </a:p>
        </p:txBody>
      </p:sp>
      <p:sp>
        <p:nvSpPr>
          <p:cNvPr id="4" name="Freeform 4"/>
          <p:cNvSpPr/>
          <p:nvPr/>
        </p:nvSpPr>
        <p:spPr>
          <a:xfrm rot="-10800000" flipH="1">
            <a:off x="16230600" y="7353299"/>
            <a:ext cx="2057400" cy="2947219"/>
          </a:xfrm>
          <a:custGeom>
            <a:avLst/>
            <a:gdLst/>
            <a:ahLst/>
            <a:cxnLst/>
            <a:rect l="l" t="t" r="r" b="b"/>
            <a:pathLst>
              <a:path w="2259855" h="3182894">
                <a:moveTo>
                  <a:pt x="2259854" y="0"/>
                </a:moveTo>
                <a:lnTo>
                  <a:pt x="0" y="0"/>
                </a:lnTo>
                <a:lnTo>
                  <a:pt x="0" y="3182894"/>
                </a:lnTo>
                <a:lnTo>
                  <a:pt x="2259854" y="3182894"/>
                </a:lnTo>
                <a:lnTo>
                  <a:pt x="2259854"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LID4096" dirty="0"/>
          </a:p>
        </p:txBody>
      </p:sp>
      <p:sp>
        <p:nvSpPr>
          <p:cNvPr id="5" name="Freeform 5"/>
          <p:cNvSpPr/>
          <p:nvPr/>
        </p:nvSpPr>
        <p:spPr>
          <a:xfrm flipH="1" flipV="1">
            <a:off x="14841541" y="-14749"/>
            <a:ext cx="3534762" cy="3984039"/>
          </a:xfrm>
          <a:custGeom>
            <a:avLst/>
            <a:gdLst/>
            <a:ahLst/>
            <a:cxnLst/>
            <a:rect l="l" t="t" r="r" b="b"/>
            <a:pathLst>
              <a:path w="4949069" h="5216410">
                <a:moveTo>
                  <a:pt x="4949068" y="5216410"/>
                </a:moveTo>
                <a:lnTo>
                  <a:pt x="0" y="5216410"/>
                </a:lnTo>
                <a:lnTo>
                  <a:pt x="0" y="0"/>
                </a:lnTo>
                <a:lnTo>
                  <a:pt x="4949068" y="0"/>
                </a:lnTo>
                <a:lnTo>
                  <a:pt x="4949068" y="521641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lang="LID4096" dirty="0"/>
          </a:p>
        </p:txBody>
      </p:sp>
      <p:sp>
        <p:nvSpPr>
          <p:cNvPr id="6" name="Freeform 6"/>
          <p:cNvSpPr/>
          <p:nvPr/>
        </p:nvSpPr>
        <p:spPr>
          <a:xfrm rot="-10800000">
            <a:off x="0" y="-6145"/>
            <a:ext cx="2362200" cy="3562616"/>
          </a:xfrm>
          <a:custGeom>
            <a:avLst/>
            <a:gdLst/>
            <a:ahLst/>
            <a:cxnLst/>
            <a:rect l="l" t="t" r="r" b="b"/>
            <a:pathLst>
              <a:path w="2975865" h="4191359">
                <a:moveTo>
                  <a:pt x="0" y="0"/>
                </a:moveTo>
                <a:lnTo>
                  <a:pt x="2975865" y="0"/>
                </a:lnTo>
                <a:lnTo>
                  <a:pt x="2975865" y="4191360"/>
                </a:lnTo>
                <a:lnTo>
                  <a:pt x="0" y="419136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LID4096" dirty="0"/>
          </a:p>
        </p:txBody>
      </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0" y="-18368"/>
            <a:ext cx="1896595" cy="3471514"/>
          </a:xfrm>
          <a:custGeom>
            <a:avLst/>
            <a:gdLst/>
            <a:ahLst/>
            <a:cxnLst/>
            <a:rect l="l" t="t" r="r" b="b"/>
            <a:pathLst>
              <a:path w="2975865" h="4191359">
                <a:moveTo>
                  <a:pt x="0" y="0"/>
                </a:moveTo>
                <a:lnTo>
                  <a:pt x="2975865" y="0"/>
                </a:lnTo>
                <a:lnTo>
                  <a:pt x="2975865" y="4191360"/>
                </a:lnTo>
                <a:lnTo>
                  <a:pt x="0" y="419136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LID4096" dirty="0"/>
          </a:p>
        </p:txBody>
      </p:sp>
      <p:sp>
        <p:nvSpPr>
          <p:cNvPr id="3" name="Freeform 3"/>
          <p:cNvSpPr/>
          <p:nvPr/>
        </p:nvSpPr>
        <p:spPr>
          <a:xfrm rot="-10800000" flipH="1">
            <a:off x="16510372" y="7847419"/>
            <a:ext cx="1777628" cy="2443268"/>
          </a:xfrm>
          <a:custGeom>
            <a:avLst/>
            <a:gdLst/>
            <a:ahLst/>
            <a:cxnLst/>
            <a:rect l="l" t="t" r="r" b="b"/>
            <a:pathLst>
              <a:path w="2259855" h="3182894">
                <a:moveTo>
                  <a:pt x="2259854" y="0"/>
                </a:moveTo>
                <a:lnTo>
                  <a:pt x="0" y="0"/>
                </a:lnTo>
                <a:lnTo>
                  <a:pt x="0" y="3182894"/>
                </a:lnTo>
                <a:lnTo>
                  <a:pt x="2259854" y="3182894"/>
                </a:lnTo>
                <a:lnTo>
                  <a:pt x="225985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LID4096"/>
          </a:p>
        </p:txBody>
      </p:sp>
      <p:sp>
        <p:nvSpPr>
          <p:cNvPr id="4" name="Freeform 4"/>
          <p:cNvSpPr/>
          <p:nvPr/>
        </p:nvSpPr>
        <p:spPr>
          <a:xfrm>
            <a:off x="-109750" y="7271504"/>
            <a:ext cx="3462549" cy="3220334"/>
          </a:xfrm>
          <a:custGeom>
            <a:avLst/>
            <a:gdLst/>
            <a:ahLst/>
            <a:cxnLst/>
            <a:rect l="l" t="t" r="r" b="b"/>
            <a:pathLst>
              <a:path w="4949069" h="5216410">
                <a:moveTo>
                  <a:pt x="0" y="0"/>
                </a:moveTo>
                <a:lnTo>
                  <a:pt x="4949069" y="0"/>
                </a:lnTo>
                <a:lnTo>
                  <a:pt x="4949069" y="5216409"/>
                </a:lnTo>
                <a:lnTo>
                  <a:pt x="0" y="5216409"/>
                </a:lnTo>
                <a:lnTo>
                  <a:pt x="0" y="0"/>
                </a:lnTo>
                <a:close/>
              </a:path>
            </a:pathLst>
          </a:custGeom>
          <a:blipFill>
            <a:blip>
              <a:alphaModFix amt="41000"/>
              <a:extLst>
                <a:ext uri="{96DAC541-7B7A-43D3-8B79-37D633B846F1}">
                  <asvg:svgBlip xmlns:asvg="http://schemas.microsoft.com/office/drawing/2016/SVG/main" r:embed="rId4"/>
                </a:ext>
              </a:extLst>
            </a:blip>
            <a:stretch>
              <a:fillRect/>
            </a:stretch>
          </a:blipFill>
        </p:spPr>
        <p:txBody>
          <a:bodyPr/>
          <a:lstStyle/>
          <a:p>
            <a:endParaRPr lang="LID4096"/>
          </a:p>
        </p:txBody>
      </p:sp>
      <p:sp>
        <p:nvSpPr>
          <p:cNvPr id="5" name="Freeform 5"/>
          <p:cNvSpPr/>
          <p:nvPr/>
        </p:nvSpPr>
        <p:spPr>
          <a:xfrm flipH="1" flipV="1">
            <a:off x="15859493" y="25452"/>
            <a:ext cx="2537109" cy="3980727"/>
          </a:xfrm>
          <a:custGeom>
            <a:avLst/>
            <a:gdLst/>
            <a:ahLst/>
            <a:cxnLst/>
            <a:rect l="l" t="t" r="r" b="b"/>
            <a:pathLst>
              <a:path w="4949069" h="5216410">
                <a:moveTo>
                  <a:pt x="4949068" y="5216410"/>
                </a:moveTo>
                <a:lnTo>
                  <a:pt x="0" y="5216410"/>
                </a:lnTo>
                <a:lnTo>
                  <a:pt x="0" y="0"/>
                </a:lnTo>
                <a:lnTo>
                  <a:pt x="4949068" y="0"/>
                </a:lnTo>
                <a:lnTo>
                  <a:pt x="4949068" y="5216410"/>
                </a:lnTo>
                <a:close/>
              </a:path>
            </a:pathLst>
          </a:custGeom>
          <a:blipFill>
            <a:blip>
              <a:alphaModFix amt="41000"/>
              <a:extLst>
                <a:ext uri="{96DAC541-7B7A-43D3-8B79-37D633B846F1}">
                  <asvg:svgBlip xmlns:asvg="http://schemas.microsoft.com/office/drawing/2016/SVG/main" r:embed="rId4"/>
                </a:ext>
              </a:extLst>
            </a:blip>
            <a:stretch>
              <a:fillRect/>
            </a:stretch>
          </a:blipFill>
        </p:spPr>
        <p:txBody>
          <a:bodyPr/>
          <a:lstStyle/>
          <a:p>
            <a:endParaRPr lang="LID4096" dirty="0"/>
          </a:p>
        </p:txBody>
      </p:sp>
      <p:sp>
        <p:nvSpPr>
          <p:cNvPr id="6" name="TextBox 6"/>
          <p:cNvSpPr txBox="1"/>
          <p:nvPr/>
        </p:nvSpPr>
        <p:spPr>
          <a:xfrm>
            <a:off x="4314659" y="1043516"/>
            <a:ext cx="9347078" cy="907760"/>
          </a:xfrm>
          <a:prstGeom prst="rect">
            <a:avLst/>
          </a:prstGeom>
        </p:spPr>
        <p:txBody>
          <a:bodyPr lIns="0" tIns="0" rIns="0" bIns="0" rtlCol="0" anchor="t">
            <a:spAutoFit/>
          </a:bodyPr>
          <a:lstStyle/>
          <a:p>
            <a:pPr algn="ctr">
              <a:lnSpc>
                <a:spcPts val="6986"/>
              </a:lnSpc>
            </a:pPr>
            <a:r>
              <a:rPr lang="en-US" sz="6590">
                <a:solidFill>
                  <a:srgbClr val="00357A"/>
                </a:solidFill>
                <a:latin typeface="Fredoka"/>
                <a:ea typeface="Fredoka"/>
                <a:cs typeface="Fredoka"/>
                <a:sym typeface="Fredoka"/>
              </a:rPr>
              <a:t>Model &amp; Fine-Tuning</a:t>
            </a:r>
          </a:p>
        </p:txBody>
      </p:sp>
      <p:grpSp>
        <p:nvGrpSpPr>
          <p:cNvPr id="7" name="Group 7"/>
          <p:cNvGrpSpPr/>
          <p:nvPr/>
        </p:nvGrpSpPr>
        <p:grpSpPr>
          <a:xfrm>
            <a:off x="718629" y="3043946"/>
            <a:ext cx="3859070" cy="716093"/>
            <a:chOff x="0" y="0"/>
            <a:chExt cx="1016380" cy="188601"/>
          </a:xfrm>
        </p:grpSpPr>
        <p:sp>
          <p:nvSpPr>
            <p:cNvPr id="8" name="Freeform 8"/>
            <p:cNvSpPr/>
            <p:nvPr/>
          </p:nvSpPr>
          <p:spPr>
            <a:xfrm>
              <a:off x="0" y="0"/>
              <a:ext cx="1016381" cy="188601"/>
            </a:xfrm>
            <a:custGeom>
              <a:avLst/>
              <a:gdLst/>
              <a:ahLst/>
              <a:cxnLst/>
              <a:rect l="l" t="t" r="r" b="b"/>
              <a:pathLst>
                <a:path w="1016381" h="188601">
                  <a:moveTo>
                    <a:pt x="94300" y="0"/>
                  </a:moveTo>
                  <a:lnTo>
                    <a:pt x="922080" y="0"/>
                  </a:lnTo>
                  <a:cubicBezTo>
                    <a:pt x="974161" y="0"/>
                    <a:pt x="1016381" y="42220"/>
                    <a:pt x="1016381" y="94300"/>
                  </a:cubicBezTo>
                  <a:lnTo>
                    <a:pt x="1016381" y="94300"/>
                  </a:lnTo>
                  <a:cubicBezTo>
                    <a:pt x="1016381" y="146381"/>
                    <a:pt x="974161" y="188601"/>
                    <a:pt x="922080" y="188601"/>
                  </a:cubicBezTo>
                  <a:lnTo>
                    <a:pt x="94300" y="188601"/>
                  </a:lnTo>
                  <a:cubicBezTo>
                    <a:pt x="42220" y="188601"/>
                    <a:pt x="0" y="146381"/>
                    <a:pt x="0" y="94300"/>
                  </a:cubicBezTo>
                  <a:lnTo>
                    <a:pt x="0" y="94300"/>
                  </a:lnTo>
                  <a:cubicBezTo>
                    <a:pt x="0" y="42220"/>
                    <a:pt x="42220" y="0"/>
                    <a:pt x="94300" y="0"/>
                  </a:cubicBezTo>
                  <a:close/>
                </a:path>
              </a:pathLst>
            </a:custGeom>
            <a:solidFill>
              <a:srgbClr val="BED9FD"/>
            </a:solidFill>
          </p:spPr>
          <p:txBody>
            <a:bodyPr/>
            <a:lstStyle/>
            <a:p>
              <a:endParaRPr lang="LID4096"/>
            </a:p>
          </p:txBody>
        </p:sp>
        <p:sp>
          <p:nvSpPr>
            <p:cNvPr id="9" name="TextBox 9"/>
            <p:cNvSpPr txBox="1"/>
            <p:nvPr/>
          </p:nvSpPr>
          <p:spPr>
            <a:xfrm>
              <a:off x="0" y="-47625"/>
              <a:ext cx="1016380" cy="236226"/>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160751" y="3006923"/>
            <a:ext cx="3153908" cy="1966559"/>
          </a:xfrm>
          <a:prstGeom prst="rect">
            <a:avLst/>
          </a:prstGeom>
        </p:spPr>
        <p:txBody>
          <a:bodyPr lIns="0" tIns="0" rIns="0" bIns="0" rtlCol="0" anchor="t">
            <a:spAutoFit/>
          </a:bodyPr>
          <a:lstStyle/>
          <a:p>
            <a:pPr algn="l">
              <a:lnSpc>
                <a:spcPts val="4446"/>
              </a:lnSpc>
            </a:pPr>
            <a:r>
              <a:rPr lang="en-US" sz="3176" b="1">
                <a:solidFill>
                  <a:srgbClr val="000000"/>
                </a:solidFill>
                <a:latin typeface="Agrandir Bold"/>
                <a:ea typeface="Agrandir Bold"/>
                <a:cs typeface="Agrandir Bold"/>
                <a:sym typeface="Agrandir Bold"/>
              </a:rPr>
              <a:t>Baseline Model</a:t>
            </a:r>
          </a:p>
          <a:p>
            <a:pPr algn="l">
              <a:lnSpc>
                <a:spcPts val="3467"/>
              </a:lnSpc>
            </a:pPr>
            <a:endParaRPr lang="en-US" sz="3176" b="1">
              <a:solidFill>
                <a:srgbClr val="000000"/>
              </a:solidFill>
              <a:latin typeface="Agrandir Bold"/>
              <a:ea typeface="Agrandir Bold"/>
              <a:cs typeface="Agrandir Bold"/>
              <a:sym typeface="Agrandir Bold"/>
            </a:endParaRPr>
          </a:p>
          <a:p>
            <a:pPr algn="l">
              <a:lnSpc>
                <a:spcPts val="3467"/>
              </a:lnSpc>
            </a:pPr>
            <a:endParaRPr lang="en-US" sz="3176" b="1">
              <a:solidFill>
                <a:srgbClr val="000000"/>
              </a:solidFill>
              <a:latin typeface="Agrandir Bold"/>
              <a:ea typeface="Agrandir Bold"/>
              <a:cs typeface="Agrandir Bold"/>
              <a:sym typeface="Agrandir Bold"/>
            </a:endParaRPr>
          </a:p>
          <a:p>
            <a:pPr algn="l">
              <a:lnSpc>
                <a:spcPts val="3467"/>
              </a:lnSpc>
            </a:pPr>
            <a:endParaRPr lang="en-US" sz="3176" b="1">
              <a:solidFill>
                <a:srgbClr val="000000"/>
              </a:solidFill>
              <a:latin typeface="Agrandir Bold"/>
              <a:ea typeface="Agrandir Bold"/>
              <a:cs typeface="Agrandir Bold"/>
              <a:sym typeface="Agrandir Bold"/>
            </a:endParaRPr>
          </a:p>
        </p:txBody>
      </p:sp>
      <p:sp>
        <p:nvSpPr>
          <p:cNvPr id="11" name="TextBox 11"/>
          <p:cNvSpPr txBox="1"/>
          <p:nvPr/>
        </p:nvSpPr>
        <p:spPr>
          <a:xfrm>
            <a:off x="0" y="4153055"/>
            <a:ext cx="6060954" cy="3118449"/>
          </a:xfrm>
          <a:prstGeom prst="rect">
            <a:avLst/>
          </a:prstGeom>
        </p:spPr>
        <p:txBody>
          <a:bodyPr lIns="0" tIns="0" rIns="0" bIns="0" rtlCol="0" anchor="t">
            <a:spAutoFit/>
          </a:bodyPr>
          <a:lstStyle/>
          <a:p>
            <a:pPr marL="534662" lvl="1" indent="-267331" algn="l">
              <a:lnSpc>
                <a:spcPts val="3467"/>
              </a:lnSpc>
              <a:buFont typeface="Arial"/>
              <a:buChar char="•"/>
            </a:pPr>
            <a:r>
              <a:rPr lang="en-US" sz="2476">
                <a:solidFill>
                  <a:srgbClr val="000000"/>
                </a:solidFill>
                <a:latin typeface="Agrandir"/>
                <a:ea typeface="Agrandir"/>
                <a:cs typeface="Agrandir"/>
                <a:sym typeface="Agrandir"/>
              </a:rPr>
              <a:t>Pretrained RoBERTa-base Transformer</a:t>
            </a:r>
          </a:p>
          <a:p>
            <a:pPr marL="534662" lvl="1" indent="-267331" algn="l">
              <a:lnSpc>
                <a:spcPts val="3467"/>
              </a:lnSpc>
              <a:buFont typeface="Arial"/>
              <a:buChar char="•"/>
            </a:pPr>
            <a:r>
              <a:rPr lang="en-US" sz="2476">
                <a:solidFill>
                  <a:srgbClr val="000000"/>
                </a:solidFill>
                <a:latin typeface="Agrandir"/>
                <a:ea typeface="Agrandir"/>
                <a:cs typeface="Agrandir"/>
                <a:sym typeface="Agrandir"/>
              </a:rPr>
              <a:t>Fine-tuned for Aspect-Based Sentiment Analysis</a:t>
            </a:r>
          </a:p>
          <a:p>
            <a:pPr marL="534662" lvl="1" indent="-267331" algn="l">
              <a:lnSpc>
                <a:spcPts val="3467"/>
              </a:lnSpc>
              <a:buFont typeface="Arial"/>
              <a:buChar char="•"/>
            </a:pPr>
            <a:r>
              <a:rPr lang="en-US" sz="2476">
                <a:solidFill>
                  <a:srgbClr val="000000"/>
                </a:solidFill>
                <a:latin typeface="Agrandir"/>
                <a:ea typeface="Agrandir"/>
                <a:cs typeface="Agrandir"/>
                <a:sym typeface="Agrandir"/>
              </a:rPr>
              <a:t>Predicts sentiment for a specific aspect within a review</a:t>
            </a:r>
          </a:p>
          <a:p>
            <a:pPr algn="l">
              <a:lnSpc>
                <a:spcPts val="3467"/>
              </a:lnSpc>
            </a:pPr>
            <a:endParaRPr lang="en-US" sz="2476">
              <a:solidFill>
                <a:srgbClr val="000000"/>
              </a:solidFill>
              <a:latin typeface="Agrandir"/>
              <a:ea typeface="Agrandir"/>
              <a:cs typeface="Agrandir"/>
              <a:sym typeface="Agrandir"/>
            </a:endParaRPr>
          </a:p>
        </p:txBody>
      </p:sp>
      <p:grpSp>
        <p:nvGrpSpPr>
          <p:cNvPr id="12" name="Group 12"/>
          <p:cNvGrpSpPr/>
          <p:nvPr/>
        </p:nvGrpSpPr>
        <p:grpSpPr>
          <a:xfrm>
            <a:off x="6362064" y="3043946"/>
            <a:ext cx="3667682" cy="716093"/>
            <a:chOff x="0" y="0"/>
            <a:chExt cx="965974" cy="188601"/>
          </a:xfrm>
        </p:grpSpPr>
        <p:sp>
          <p:nvSpPr>
            <p:cNvPr id="13" name="Freeform 13"/>
            <p:cNvSpPr/>
            <p:nvPr/>
          </p:nvSpPr>
          <p:spPr>
            <a:xfrm>
              <a:off x="0" y="0"/>
              <a:ext cx="965974" cy="188601"/>
            </a:xfrm>
            <a:custGeom>
              <a:avLst/>
              <a:gdLst/>
              <a:ahLst/>
              <a:cxnLst/>
              <a:rect l="l" t="t" r="r" b="b"/>
              <a:pathLst>
                <a:path w="965974" h="188601">
                  <a:moveTo>
                    <a:pt x="94300" y="0"/>
                  </a:moveTo>
                  <a:lnTo>
                    <a:pt x="871674" y="0"/>
                  </a:lnTo>
                  <a:cubicBezTo>
                    <a:pt x="923754" y="0"/>
                    <a:pt x="965974" y="42220"/>
                    <a:pt x="965974" y="94300"/>
                  </a:cubicBezTo>
                  <a:lnTo>
                    <a:pt x="965974" y="94300"/>
                  </a:lnTo>
                  <a:cubicBezTo>
                    <a:pt x="965974" y="146381"/>
                    <a:pt x="923754" y="188601"/>
                    <a:pt x="871674" y="188601"/>
                  </a:cubicBezTo>
                  <a:lnTo>
                    <a:pt x="94300" y="188601"/>
                  </a:lnTo>
                  <a:cubicBezTo>
                    <a:pt x="42220" y="188601"/>
                    <a:pt x="0" y="146381"/>
                    <a:pt x="0" y="94300"/>
                  </a:cubicBezTo>
                  <a:lnTo>
                    <a:pt x="0" y="94300"/>
                  </a:lnTo>
                  <a:cubicBezTo>
                    <a:pt x="0" y="42220"/>
                    <a:pt x="42220" y="0"/>
                    <a:pt x="94300" y="0"/>
                  </a:cubicBezTo>
                  <a:close/>
                </a:path>
              </a:pathLst>
            </a:custGeom>
            <a:solidFill>
              <a:srgbClr val="BED9FD"/>
            </a:solidFill>
          </p:spPr>
          <p:txBody>
            <a:bodyPr/>
            <a:lstStyle/>
            <a:p>
              <a:endParaRPr lang="LID4096"/>
            </a:p>
          </p:txBody>
        </p:sp>
        <p:sp>
          <p:nvSpPr>
            <p:cNvPr id="14" name="TextBox 14"/>
            <p:cNvSpPr txBox="1"/>
            <p:nvPr/>
          </p:nvSpPr>
          <p:spPr>
            <a:xfrm>
              <a:off x="0" y="-47625"/>
              <a:ext cx="965974" cy="236226"/>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6815685" y="3006923"/>
            <a:ext cx="3381525" cy="1966559"/>
          </a:xfrm>
          <a:prstGeom prst="rect">
            <a:avLst/>
          </a:prstGeom>
        </p:spPr>
        <p:txBody>
          <a:bodyPr lIns="0" tIns="0" rIns="0" bIns="0" rtlCol="0" anchor="t">
            <a:spAutoFit/>
          </a:bodyPr>
          <a:lstStyle/>
          <a:p>
            <a:pPr algn="l">
              <a:lnSpc>
                <a:spcPts val="4446"/>
              </a:lnSpc>
            </a:pPr>
            <a:r>
              <a:rPr lang="en-US" sz="3176" b="1">
                <a:solidFill>
                  <a:srgbClr val="000000"/>
                </a:solidFill>
                <a:latin typeface="Agrandir Bold"/>
                <a:ea typeface="Agrandir Bold"/>
                <a:cs typeface="Agrandir Bold"/>
                <a:sym typeface="Agrandir Bold"/>
              </a:rPr>
              <a:t>Example Input</a:t>
            </a:r>
          </a:p>
          <a:p>
            <a:pPr algn="l">
              <a:lnSpc>
                <a:spcPts val="3467"/>
              </a:lnSpc>
            </a:pPr>
            <a:endParaRPr lang="en-US" sz="3176" b="1">
              <a:solidFill>
                <a:srgbClr val="000000"/>
              </a:solidFill>
              <a:latin typeface="Agrandir Bold"/>
              <a:ea typeface="Agrandir Bold"/>
              <a:cs typeface="Agrandir Bold"/>
              <a:sym typeface="Agrandir Bold"/>
            </a:endParaRPr>
          </a:p>
          <a:p>
            <a:pPr algn="l">
              <a:lnSpc>
                <a:spcPts val="3467"/>
              </a:lnSpc>
            </a:pPr>
            <a:endParaRPr lang="en-US" sz="3176" b="1">
              <a:solidFill>
                <a:srgbClr val="000000"/>
              </a:solidFill>
              <a:latin typeface="Agrandir Bold"/>
              <a:ea typeface="Agrandir Bold"/>
              <a:cs typeface="Agrandir Bold"/>
              <a:sym typeface="Agrandir Bold"/>
            </a:endParaRPr>
          </a:p>
          <a:p>
            <a:pPr algn="l">
              <a:lnSpc>
                <a:spcPts val="3467"/>
              </a:lnSpc>
            </a:pPr>
            <a:endParaRPr lang="en-US" sz="3176" b="1">
              <a:solidFill>
                <a:srgbClr val="000000"/>
              </a:solidFill>
              <a:latin typeface="Agrandir Bold"/>
              <a:ea typeface="Agrandir Bold"/>
              <a:cs typeface="Agrandir Bold"/>
              <a:sym typeface="Agrandir Bold"/>
            </a:endParaRPr>
          </a:p>
        </p:txBody>
      </p:sp>
      <p:grpSp>
        <p:nvGrpSpPr>
          <p:cNvPr id="16" name="Group 16"/>
          <p:cNvGrpSpPr/>
          <p:nvPr/>
        </p:nvGrpSpPr>
        <p:grpSpPr>
          <a:xfrm>
            <a:off x="11992396" y="3011138"/>
            <a:ext cx="4993631" cy="793543"/>
            <a:chOff x="0" y="0"/>
            <a:chExt cx="1315195" cy="208999"/>
          </a:xfrm>
        </p:grpSpPr>
        <p:sp>
          <p:nvSpPr>
            <p:cNvPr id="17" name="Freeform 17"/>
            <p:cNvSpPr/>
            <p:nvPr/>
          </p:nvSpPr>
          <p:spPr>
            <a:xfrm>
              <a:off x="0" y="0"/>
              <a:ext cx="1315195" cy="208999"/>
            </a:xfrm>
            <a:custGeom>
              <a:avLst/>
              <a:gdLst/>
              <a:ahLst/>
              <a:cxnLst/>
              <a:rect l="l" t="t" r="r" b="b"/>
              <a:pathLst>
                <a:path w="1315195" h="208999">
                  <a:moveTo>
                    <a:pt x="79068" y="0"/>
                  </a:moveTo>
                  <a:lnTo>
                    <a:pt x="1236127" y="0"/>
                  </a:lnTo>
                  <a:cubicBezTo>
                    <a:pt x="1257097" y="0"/>
                    <a:pt x="1277208" y="8330"/>
                    <a:pt x="1292036" y="23159"/>
                  </a:cubicBezTo>
                  <a:cubicBezTo>
                    <a:pt x="1306865" y="37987"/>
                    <a:pt x="1315195" y="58098"/>
                    <a:pt x="1315195" y="79068"/>
                  </a:cubicBezTo>
                  <a:lnTo>
                    <a:pt x="1315195" y="129931"/>
                  </a:lnTo>
                  <a:cubicBezTo>
                    <a:pt x="1315195" y="150901"/>
                    <a:pt x="1306865" y="171012"/>
                    <a:pt x="1292036" y="185840"/>
                  </a:cubicBezTo>
                  <a:cubicBezTo>
                    <a:pt x="1277208" y="200669"/>
                    <a:pt x="1257097" y="208999"/>
                    <a:pt x="1236127" y="208999"/>
                  </a:cubicBezTo>
                  <a:lnTo>
                    <a:pt x="79068" y="208999"/>
                  </a:lnTo>
                  <a:cubicBezTo>
                    <a:pt x="58098" y="208999"/>
                    <a:pt x="37987" y="200669"/>
                    <a:pt x="23159" y="185840"/>
                  </a:cubicBezTo>
                  <a:cubicBezTo>
                    <a:pt x="8330" y="171012"/>
                    <a:pt x="0" y="150901"/>
                    <a:pt x="0" y="129931"/>
                  </a:cubicBezTo>
                  <a:lnTo>
                    <a:pt x="0" y="79068"/>
                  </a:lnTo>
                  <a:cubicBezTo>
                    <a:pt x="0" y="58098"/>
                    <a:pt x="8330" y="37987"/>
                    <a:pt x="23159" y="23159"/>
                  </a:cubicBezTo>
                  <a:cubicBezTo>
                    <a:pt x="37987" y="8330"/>
                    <a:pt x="58098" y="0"/>
                    <a:pt x="79068" y="0"/>
                  </a:cubicBezTo>
                  <a:close/>
                </a:path>
              </a:pathLst>
            </a:custGeom>
            <a:solidFill>
              <a:srgbClr val="BED9FD"/>
            </a:solidFill>
          </p:spPr>
          <p:txBody>
            <a:bodyPr/>
            <a:lstStyle/>
            <a:p>
              <a:endParaRPr lang="LID4096"/>
            </a:p>
          </p:txBody>
        </p:sp>
        <p:sp>
          <p:nvSpPr>
            <p:cNvPr id="18" name="TextBox 18"/>
            <p:cNvSpPr txBox="1"/>
            <p:nvPr/>
          </p:nvSpPr>
          <p:spPr>
            <a:xfrm>
              <a:off x="0" y="-47625"/>
              <a:ext cx="1315195" cy="256624"/>
            </a:xfrm>
            <a:prstGeom prst="rect">
              <a:avLst/>
            </a:prstGeom>
          </p:spPr>
          <p:txBody>
            <a:bodyPr lIns="50800" tIns="50800" rIns="50800" bIns="50800" rtlCol="0" anchor="ctr"/>
            <a:lstStyle/>
            <a:p>
              <a:pPr algn="ctr">
                <a:lnSpc>
                  <a:spcPts val="2659"/>
                </a:lnSpc>
              </a:pPr>
              <a:endParaRPr/>
            </a:p>
            <a:p>
              <a:pPr algn="ctr">
                <a:lnSpc>
                  <a:spcPts val="2659"/>
                </a:lnSpc>
              </a:pPr>
              <a:r>
                <a:rPr lang="en-US" sz="1899">
                  <a:solidFill>
                    <a:srgbClr val="000000"/>
                  </a:solidFill>
                  <a:latin typeface="Arimo"/>
                  <a:ea typeface="Arimo"/>
                  <a:cs typeface="Arimo"/>
                  <a:sym typeface="Arimo"/>
                </a:rPr>
                <a:t>\</a:t>
              </a:r>
            </a:p>
          </p:txBody>
        </p:sp>
      </p:grpSp>
      <p:sp>
        <p:nvSpPr>
          <p:cNvPr id="19" name="TextBox 19"/>
          <p:cNvSpPr txBox="1"/>
          <p:nvPr/>
        </p:nvSpPr>
        <p:spPr>
          <a:xfrm>
            <a:off x="12446017" y="3006923"/>
            <a:ext cx="4922785" cy="1966559"/>
          </a:xfrm>
          <a:prstGeom prst="rect">
            <a:avLst/>
          </a:prstGeom>
        </p:spPr>
        <p:txBody>
          <a:bodyPr wrap="square" lIns="0" tIns="0" rIns="0" bIns="0" rtlCol="0" anchor="t">
            <a:spAutoFit/>
          </a:bodyPr>
          <a:lstStyle/>
          <a:p>
            <a:pPr algn="l">
              <a:lnSpc>
                <a:spcPts val="4446"/>
              </a:lnSpc>
            </a:pPr>
            <a:r>
              <a:rPr lang="en-US" sz="3176" b="1" dirty="0">
                <a:solidFill>
                  <a:srgbClr val="000000"/>
                </a:solidFill>
                <a:latin typeface="Agrandir Bold"/>
                <a:ea typeface="Agrandir Bold"/>
                <a:cs typeface="Agrandir Bold"/>
                <a:sym typeface="Agrandir Bold"/>
              </a:rPr>
              <a:t>Fine-Tuning Strategy</a:t>
            </a:r>
          </a:p>
          <a:p>
            <a:pPr algn="l">
              <a:lnSpc>
                <a:spcPts val="3467"/>
              </a:lnSpc>
            </a:pPr>
            <a:endParaRPr lang="en-US" sz="3176" b="1" dirty="0">
              <a:solidFill>
                <a:srgbClr val="000000"/>
              </a:solidFill>
              <a:latin typeface="Agrandir Bold"/>
              <a:ea typeface="Agrandir Bold"/>
              <a:cs typeface="Agrandir Bold"/>
              <a:sym typeface="Agrandir Bold"/>
            </a:endParaRPr>
          </a:p>
          <a:p>
            <a:pPr algn="l">
              <a:lnSpc>
                <a:spcPts val="3467"/>
              </a:lnSpc>
            </a:pPr>
            <a:endParaRPr lang="en-US" sz="3176" b="1" dirty="0">
              <a:solidFill>
                <a:srgbClr val="000000"/>
              </a:solidFill>
              <a:latin typeface="Agrandir Bold"/>
              <a:ea typeface="Agrandir Bold"/>
              <a:cs typeface="Agrandir Bold"/>
              <a:sym typeface="Agrandir Bold"/>
            </a:endParaRPr>
          </a:p>
          <a:p>
            <a:pPr algn="l">
              <a:lnSpc>
                <a:spcPts val="3467"/>
              </a:lnSpc>
            </a:pPr>
            <a:endParaRPr lang="en-US" sz="3176" b="1" dirty="0">
              <a:solidFill>
                <a:srgbClr val="000000"/>
              </a:solidFill>
              <a:latin typeface="Agrandir Bold"/>
              <a:ea typeface="Agrandir Bold"/>
              <a:cs typeface="Agrandir Bold"/>
              <a:sym typeface="Agrandir Bold"/>
            </a:endParaRPr>
          </a:p>
        </p:txBody>
      </p:sp>
      <p:sp>
        <p:nvSpPr>
          <p:cNvPr id="20" name="TextBox 20"/>
          <p:cNvSpPr txBox="1"/>
          <p:nvPr/>
        </p:nvSpPr>
        <p:spPr>
          <a:xfrm>
            <a:off x="12169093" y="4153055"/>
            <a:ext cx="6118907" cy="3994749"/>
          </a:xfrm>
          <a:prstGeom prst="rect">
            <a:avLst/>
          </a:prstGeom>
        </p:spPr>
        <p:txBody>
          <a:bodyPr lIns="0" tIns="0" rIns="0" bIns="0" rtlCol="0" anchor="t">
            <a:spAutoFit/>
          </a:bodyPr>
          <a:lstStyle/>
          <a:p>
            <a:pPr marL="534662" lvl="1" indent="-267331" algn="l">
              <a:lnSpc>
                <a:spcPts val="3467"/>
              </a:lnSpc>
              <a:buFont typeface="Arial"/>
              <a:buChar char="•"/>
            </a:pPr>
            <a:r>
              <a:rPr lang="en-US" sz="2476">
                <a:solidFill>
                  <a:srgbClr val="000000"/>
                </a:solidFill>
                <a:latin typeface="Agrandir"/>
                <a:ea typeface="Agrandir"/>
                <a:cs typeface="Agrandir"/>
                <a:sym typeface="Agrandir"/>
              </a:rPr>
              <a:t>Stratified train/validation/test split</a:t>
            </a:r>
          </a:p>
          <a:p>
            <a:pPr marL="534662" lvl="1" indent="-267331" algn="l">
              <a:lnSpc>
                <a:spcPts val="3467"/>
              </a:lnSpc>
              <a:buFont typeface="Arial"/>
              <a:buChar char="•"/>
            </a:pPr>
            <a:r>
              <a:rPr lang="en-US" sz="2476">
                <a:solidFill>
                  <a:srgbClr val="000000"/>
                </a:solidFill>
                <a:latin typeface="Agrandir"/>
                <a:ea typeface="Agrandir"/>
                <a:cs typeface="Agrandir"/>
                <a:sym typeface="Agrandir"/>
              </a:rPr>
              <a:t>Dynamic padding</a:t>
            </a:r>
          </a:p>
          <a:p>
            <a:pPr marL="534662" lvl="1" indent="-267331" algn="l">
              <a:lnSpc>
                <a:spcPts val="3467"/>
              </a:lnSpc>
              <a:buFont typeface="Arial"/>
              <a:buChar char="•"/>
            </a:pPr>
            <a:r>
              <a:rPr lang="en-US" sz="2476">
                <a:solidFill>
                  <a:srgbClr val="000000"/>
                </a:solidFill>
                <a:latin typeface="Agrandir"/>
                <a:ea typeface="Agrandir"/>
                <a:cs typeface="Agrandir"/>
                <a:sym typeface="Agrandir"/>
              </a:rPr>
              <a:t>Early stopping</a:t>
            </a:r>
          </a:p>
          <a:p>
            <a:pPr marL="534662" lvl="1" indent="-267331" algn="l">
              <a:lnSpc>
                <a:spcPts val="3467"/>
              </a:lnSpc>
              <a:buFont typeface="Arial"/>
              <a:buChar char="•"/>
            </a:pPr>
            <a:r>
              <a:rPr lang="en-US" sz="2476">
                <a:solidFill>
                  <a:srgbClr val="000000"/>
                </a:solidFill>
                <a:latin typeface="Agrandir"/>
                <a:ea typeface="Agrandir"/>
                <a:cs typeface="Agrandir"/>
                <a:sym typeface="Agrandir"/>
              </a:rPr>
              <a:t>Macro-F1 model selection</a:t>
            </a:r>
          </a:p>
          <a:p>
            <a:pPr marL="534662" lvl="1" indent="-267331" algn="l">
              <a:lnSpc>
                <a:spcPts val="3467"/>
              </a:lnSpc>
              <a:buFont typeface="Arial"/>
              <a:buChar char="•"/>
            </a:pPr>
            <a:r>
              <a:rPr lang="en-US" sz="2476">
                <a:solidFill>
                  <a:srgbClr val="000000"/>
                </a:solidFill>
                <a:latin typeface="Agrandir"/>
                <a:ea typeface="Agrandir"/>
                <a:cs typeface="Agrandir"/>
                <a:sym typeface="Agrandir"/>
              </a:rPr>
              <a:t>Initial training on 2,000 samples</a:t>
            </a:r>
          </a:p>
          <a:p>
            <a:pPr marL="534662" lvl="1" indent="-267331" algn="l">
              <a:lnSpc>
                <a:spcPts val="3467"/>
              </a:lnSpc>
              <a:buFont typeface="Arial"/>
              <a:buChar char="•"/>
            </a:pPr>
            <a:r>
              <a:rPr lang="en-US" sz="2476">
                <a:solidFill>
                  <a:srgbClr val="000000"/>
                </a:solidFill>
                <a:latin typeface="Agrandir"/>
                <a:ea typeface="Agrandir"/>
                <a:cs typeface="Agrandir"/>
                <a:sym typeface="Agrandir"/>
              </a:rPr>
              <a:t>batch-size: 8</a:t>
            </a:r>
          </a:p>
          <a:p>
            <a:pPr marL="534662" lvl="1" indent="-267331" algn="l">
              <a:lnSpc>
                <a:spcPts val="3467"/>
              </a:lnSpc>
              <a:buFont typeface="Arial"/>
              <a:buChar char="•"/>
            </a:pPr>
            <a:r>
              <a:rPr lang="en-US" sz="2476">
                <a:solidFill>
                  <a:srgbClr val="000000"/>
                </a:solidFill>
                <a:latin typeface="Agrandir"/>
                <a:ea typeface="Agrandir"/>
                <a:cs typeface="Agrandir"/>
                <a:sym typeface="Agrandir"/>
              </a:rPr>
              <a:t>learning rate: 1e-5</a:t>
            </a:r>
          </a:p>
          <a:p>
            <a:pPr marL="534662" lvl="1" indent="-267331" algn="l">
              <a:lnSpc>
                <a:spcPts val="3467"/>
              </a:lnSpc>
              <a:buFont typeface="Arial"/>
              <a:buChar char="•"/>
            </a:pPr>
            <a:r>
              <a:rPr lang="en-US" sz="2476">
                <a:solidFill>
                  <a:srgbClr val="000000"/>
                </a:solidFill>
                <a:latin typeface="Agrandir"/>
                <a:ea typeface="Agrandir"/>
                <a:cs typeface="Agrandir"/>
                <a:sym typeface="Agrandir"/>
              </a:rPr>
              <a:t>epochs: 6</a:t>
            </a:r>
          </a:p>
          <a:p>
            <a:pPr algn="l">
              <a:lnSpc>
                <a:spcPts val="3467"/>
              </a:lnSpc>
            </a:pPr>
            <a:endParaRPr lang="en-US" sz="2476">
              <a:solidFill>
                <a:srgbClr val="000000"/>
              </a:solidFill>
              <a:latin typeface="Agrandir"/>
              <a:ea typeface="Agrandir"/>
              <a:cs typeface="Agrandir"/>
              <a:sym typeface="Agrandir"/>
            </a:endParaRPr>
          </a:p>
        </p:txBody>
      </p:sp>
      <p:sp>
        <p:nvSpPr>
          <p:cNvPr id="21" name="TextBox 21"/>
          <p:cNvSpPr txBox="1"/>
          <p:nvPr/>
        </p:nvSpPr>
        <p:spPr>
          <a:xfrm>
            <a:off x="5715206" y="3956864"/>
            <a:ext cx="6071112" cy="3556599"/>
          </a:xfrm>
          <a:prstGeom prst="rect">
            <a:avLst/>
          </a:prstGeom>
        </p:spPr>
        <p:txBody>
          <a:bodyPr lIns="0" tIns="0" rIns="0" bIns="0" rtlCol="0" anchor="t">
            <a:spAutoFit/>
          </a:bodyPr>
          <a:lstStyle/>
          <a:p>
            <a:pPr marL="534662" lvl="1" indent="-267331" algn="l">
              <a:lnSpc>
                <a:spcPts val="3467"/>
              </a:lnSpc>
              <a:buFont typeface="Arial"/>
              <a:buChar char="•"/>
            </a:pPr>
            <a:r>
              <a:rPr lang="en-US" sz="2476">
                <a:solidFill>
                  <a:srgbClr val="000000"/>
                </a:solidFill>
                <a:latin typeface="Agrandir"/>
                <a:ea typeface="Agrandir"/>
                <a:cs typeface="Agrandir"/>
                <a:sym typeface="Agrandir"/>
              </a:rPr>
              <a:t>Aspect: inspection_and_maintenance</a:t>
            </a:r>
          </a:p>
          <a:p>
            <a:pPr algn="l">
              <a:lnSpc>
                <a:spcPts val="3467"/>
              </a:lnSpc>
            </a:pPr>
            <a:r>
              <a:rPr lang="en-US" sz="2476">
                <a:solidFill>
                  <a:srgbClr val="000000"/>
                </a:solidFill>
                <a:latin typeface="Agrandir"/>
                <a:ea typeface="Agrandir"/>
                <a:cs typeface="Agrandir"/>
                <a:sym typeface="Agrandir"/>
              </a:rPr>
              <a:t>“inspecting the device before each use is important, especially to check for signs of wear or any operational issues, but this step is routine and manageable. “</a:t>
            </a:r>
          </a:p>
          <a:p>
            <a:pPr marL="534662" lvl="1" indent="-267331" algn="l">
              <a:lnSpc>
                <a:spcPts val="3467"/>
              </a:lnSpc>
              <a:buFont typeface="Arial"/>
              <a:buChar char="•"/>
            </a:pPr>
            <a:r>
              <a:rPr lang="en-US" sz="2476">
                <a:solidFill>
                  <a:srgbClr val="000000"/>
                </a:solidFill>
                <a:latin typeface="Agrandir"/>
                <a:ea typeface="Agrandir"/>
                <a:cs typeface="Agrandir"/>
                <a:sym typeface="Agrandir"/>
              </a:rPr>
              <a:t>Predicted sentiment:</a:t>
            </a:r>
          </a:p>
          <a:p>
            <a:pPr algn="l">
              <a:lnSpc>
                <a:spcPts val="3467"/>
              </a:lnSpc>
            </a:pPr>
            <a:r>
              <a:rPr lang="en-US" sz="2476">
                <a:solidFill>
                  <a:srgbClr val="000000"/>
                </a:solidFill>
                <a:latin typeface="Agrandir"/>
                <a:ea typeface="Agrandir"/>
                <a:cs typeface="Agrandir"/>
                <a:sym typeface="Agrandir"/>
              </a:rPr>
              <a:t>       Neutral</a:t>
            </a:r>
          </a:p>
          <a:p>
            <a:pPr algn="l">
              <a:lnSpc>
                <a:spcPts val="3467"/>
              </a:lnSpc>
            </a:pPr>
            <a:endParaRPr lang="en-US" sz="2476">
              <a:solidFill>
                <a:srgbClr val="000000"/>
              </a:solidFill>
              <a:latin typeface="Agrandir"/>
              <a:ea typeface="Agrandir"/>
              <a:cs typeface="Agrandir"/>
              <a:sym typeface="Agrandi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flipH="1" flipV="1">
            <a:off x="14364707" y="0"/>
            <a:ext cx="3958469" cy="4334431"/>
          </a:xfrm>
          <a:custGeom>
            <a:avLst/>
            <a:gdLst/>
            <a:ahLst/>
            <a:cxnLst/>
            <a:rect l="l" t="t" r="r" b="b"/>
            <a:pathLst>
              <a:path w="4949069" h="5216410">
                <a:moveTo>
                  <a:pt x="4949068" y="5216410"/>
                </a:moveTo>
                <a:lnTo>
                  <a:pt x="0" y="5216410"/>
                </a:lnTo>
                <a:lnTo>
                  <a:pt x="0" y="0"/>
                </a:lnTo>
                <a:lnTo>
                  <a:pt x="4949068" y="0"/>
                </a:lnTo>
                <a:lnTo>
                  <a:pt x="4949068" y="5216410"/>
                </a:lnTo>
                <a:close/>
              </a:path>
            </a:pathLst>
          </a:custGeom>
          <a:blipFill>
            <a:blip>
              <a:alphaModFix amt="41000"/>
              <a:extLst>
                <a:ext uri="{96DAC541-7B7A-43D3-8B79-37D633B846F1}">
                  <asvg:svgBlip xmlns:asvg="http://schemas.microsoft.com/office/drawing/2016/SVG/main" r:embed="rId2"/>
                </a:ext>
              </a:extLst>
            </a:blip>
            <a:stretch>
              <a:fillRect/>
            </a:stretch>
          </a:blipFill>
        </p:spPr>
        <p:txBody>
          <a:bodyPr/>
          <a:lstStyle/>
          <a:p>
            <a:endParaRPr lang="LID4096"/>
          </a:p>
        </p:txBody>
      </p:sp>
      <p:graphicFrame>
        <p:nvGraphicFramePr>
          <p:cNvPr id="5" name="Table 5"/>
          <p:cNvGraphicFramePr>
            <a:graphicFrameLocks noGrp="1"/>
          </p:cNvGraphicFramePr>
          <p:nvPr/>
        </p:nvGraphicFramePr>
        <p:xfrm>
          <a:off x="658138" y="2655274"/>
          <a:ext cx="8319985" cy="7631730"/>
        </p:xfrm>
        <a:graphic>
          <a:graphicData uri="http://schemas.openxmlformats.org/drawingml/2006/table">
            <a:tbl>
              <a:tblPr/>
              <a:tblGrid>
                <a:gridCol w="2135054">
                  <a:extLst>
                    <a:ext uri="{9D8B030D-6E8A-4147-A177-3AD203B41FA5}">
                      <a16:colId xmlns:a16="http://schemas.microsoft.com/office/drawing/2014/main" val="20000"/>
                    </a:ext>
                  </a:extLst>
                </a:gridCol>
                <a:gridCol w="1502829">
                  <a:extLst>
                    <a:ext uri="{9D8B030D-6E8A-4147-A177-3AD203B41FA5}">
                      <a16:colId xmlns:a16="http://schemas.microsoft.com/office/drawing/2014/main" val="20001"/>
                    </a:ext>
                  </a:extLst>
                </a:gridCol>
                <a:gridCol w="1325268">
                  <a:extLst>
                    <a:ext uri="{9D8B030D-6E8A-4147-A177-3AD203B41FA5}">
                      <a16:colId xmlns:a16="http://schemas.microsoft.com/office/drawing/2014/main" val="20002"/>
                    </a:ext>
                  </a:extLst>
                </a:gridCol>
                <a:gridCol w="1563715">
                  <a:extLst>
                    <a:ext uri="{9D8B030D-6E8A-4147-A177-3AD203B41FA5}">
                      <a16:colId xmlns:a16="http://schemas.microsoft.com/office/drawing/2014/main" val="20003"/>
                    </a:ext>
                  </a:extLst>
                </a:gridCol>
                <a:gridCol w="1793119">
                  <a:extLst>
                    <a:ext uri="{9D8B030D-6E8A-4147-A177-3AD203B41FA5}">
                      <a16:colId xmlns:a16="http://schemas.microsoft.com/office/drawing/2014/main" val="20004"/>
                    </a:ext>
                  </a:extLst>
                </a:gridCol>
              </a:tblGrid>
              <a:tr h="847970">
                <a:tc>
                  <a:txBody>
                    <a:bodyPr/>
                    <a:lstStyle/>
                    <a:p>
                      <a:pPr algn="ctr">
                        <a:lnSpc>
                          <a:spcPts val="265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ED9FD"/>
                    </a:solidFill>
                  </a:tcPr>
                </a:tc>
                <a:tc>
                  <a:txBody>
                    <a:bodyPr/>
                    <a:lstStyle/>
                    <a:p>
                      <a:pPr algn="ctr">
                        <a:lnSpc>
                          <a:spcPts val="2659"/>
                        </a:lnSpc>
                        <a:defRPr/>
                      </a:pPr>
                      <a:r>
                        <a:rPr lang="en-US" sz="1899" b="1">
                          <a:solidFill>
                            <a:srgbClr val="000000"/>
                          </a:solidFill>
                          <a:latin typeface="Arimo Bold"/>
                          <a:ea typeface="Arimo Bold"/>
                          <a:cs typeface="Arimo Bold"/>
                          <a:sym typeface="Arimo Bold"/>
                        </a:rPr>
                        <a:t>recall</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ED9FD"/>
                    </a:solidFill>
                  </a:tcPr>
                </a:tc>
                <a:tc>
                  <a:txBody>
                    <a:bodyPr/>
                    <a:lstStyle/>
                    <a:p>
                      <a:pPr algn="ctr">
                        <a:lnSpc>
                          <a:spcPts val="2659"/>
                        </a:lnSpc>
                        <a:defRPr/>
                      </a:pPr>
                      <a:r>
                        <a:rPr lang="en-US" sz="1899" b="1">
                          <a:solidFill>
                            <a:srgbClr val="000000"/>
                          </a:solidFill>
                          <a:latin typeface="Arimo Bold"/>
                          <a:ea typeface="Arimo Bold"/>
                          <a:cs typeface="Arimo Bold"/>
                          <a:sym typeface="Arimo Bold"/>
                        </a:rPr>
                        <a:t>f1-score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ED9FD"/>
                    </a:solidFill>
                  </a:tcPr>
                </a:tc>
                <a:tc>
                  <a:txBody>
                    <a:bodyPr/>
                    <a:lstStyle/>
                    <a:p>
                      <a:pPr algn="ctr">
                        <a:lnSpc>
                          <a:spcPts val="2659"/>
                        </a:lnSpc>
                        <a:defRPr/>
                      </a:pPr>
                      <a:r>
                        <a:rPr lang="en-US" sz="1899" b="1">
                          <a:solidFill>
                            <a:srgbClr val="000000"/>
                          </a:solidFill>
                          <a:latin typeface="Arimo Bold"/>
                          <a:ea typeface="Arimo Bold"/>
                          <a:cs typeface="Arimo Bold"/>
                          <a:sym typeface="Arimo Bold"/>
                        </a:rPr>
                        <a:t>precision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ED9FD"/>
                    </a:solidFill>
                  </a:tcPr>
                </a:tc>
                <a:tc>
                  <a:txBody>
                    <a:bodyPr/>
                    <a:lstStyle/>
                    <a:p>
                      <a:pPr algn="ctr">
                        <a:lnSpc>
                          <a:spcPts val="2659"/>
                        </a:lnSpc>
                        <a:defRPr/>
                      </a:pPr>
                      <a:r>
                        <a:rPr lang="en-US" sz="1899" b="1">
                          <a:solidFill>
                            <a:srgbClr val="000000"/>
                          </a:solidFill>
                          <a:latin typeface="Arimo Bold"/>
                          <a:ea typeface="Arimo Bold"/>
                          <a:cs typeface="Arimo Bold"/>
                          <a:sym typeface="Arimo Bold"/>
                        </a:rPr>
                        <a:t>support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ED9FD"/>
                    </a:solidFill>
                  </a:tcPr>
                </a:tc>
                <a:extLst>
                  <a:ext uri="{0D108BD9-81ED-4DB2-BD59-A6C34878D82A}">
                    <a16:rowId xmlns:a16="http://schemas.microsoft.com/office/drawing/2014/main" val="10000"/>
                  </a:ext>
                </a:extLst>
              </a:tr>
              <a:tr h="847970">
                <a:tc>
                  <a:txBody>
                    <a:bodyPr/>
                    <a:lstStyle/>
                    <a:p>
                      <a:pPr algn="ctr">
                        <a:lnSpc>
                          <a:spcPts val="2659"/>
                        </a:lnSpc>
                        <a:defRPr/>
                      </a:pPr>
                      <a:r>
                        <a:rPr lang="en-US" sz="1899" b="1">
                          <a:solidFill>
                            <a:srgbClr val="000000"/>
                          </a:solidFill>
                          <a:latin typeface="Arimo Bold"/>
                          <a:ea typeface="Arimo Bold"/>
                          <a:cs typeface="Arimo Bold"/>
                          <a:sym typeface="Arimo Bold"/>
                        </a:rPr>
                        <a:t>negative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0.99</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0.93</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0.89</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79</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847970">
                <a:tc>
                  <a:txBody>
                    <a:bodyPr/>
                    <a:lstStyle/>
                    <a:p>
                      <a:pPr algn="ctr">
                        <a:lnSpc>
                          <a:spcPts val="2659"/>
                        </a:lnSpc>
                        <a:defRPr/>
                      </a:pPr>
                      <a:r>
                        <a:rPr lang="en-US" sz="1899" b="1">
                          <a:solidFill>
                            <a:srgbClr val="000000"/>
                          </a:solidFill>
                          <a:latin typeface="Arimo Bold"/>
                          <a:ea typeface="Arimo Bold"/>
                          <a:cs typeface="Arimo Bold"/>
                          <a:sym typeface="Arimo Bold"/>
                        </a:rPr>
                        <a:t>neutral</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0.93</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0.92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0.90</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71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847970">
                <a:tc>
                  <a:txBody>
                    <a:bodyPr/>
                    <a:lstStyle/>
                    <a:p>
                      <a:pPr algn="ctr">
                        <a:lnSpc>
                          <a:spcPts val="2659"/>
                        </a:lnSpc>
                        <a:defRPr/>
                      </a:pPr>
                      <a:r>
                        <a:rPr lang="en-US" sz="1899" b="1">
                          <a:solidFill>
                            <a:srgbClr val="000000"/>
                          </a:solidFill>
                          <a:latin typeface="Arimo Bold"/>
                          <a:ea typeface="Arimo Bold"/>
                          <a:cs typeface="Arimo Bold"/>
                          <a:sym typeface="Arimo Bold"/>
                        </a:rPr>
                        <a:t>positive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0.97</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0.96</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0.95</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74</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847970">
                <a:tc>
                  <a:txBody>
                    <a:bodyPr/>
                    <a:lstStyle/>
                    <a:p>
                      <a:pPr algn="ctr">
                        <a:lnSpc>
                          <a:spcPts val="2659"/>
                        </a:lnSpc>
                        <a:defRPr/>
                      </a:pPr>
                      <a:r>
                        <a:rPr lang="en-US" sz="1899" b="1">
                          <a:solidFill>
                            <a:srgbClr val="000000"/>
                          </a:solidFill>
                          <a:latin typeface="Arimo Bold"/>
                          <a:ea typeface="Arimo Bold"/>
                          <a:cs typeface="Arimo Bold"/>
                          <a:sym typeface="Arimo Bold"/>
                        </a:rPr>
                        <a:t>mixed</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0.80</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0.88</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0.97</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76</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847970">
                <a:tc>
                  <a:txBody>
                    <a:bodyPr/>
                    <a:lstStyle/>
                    <a:p>
                      <a:pPr algn="ctr">
                        <a:lnSpc>
                          <a:spcPts val="265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r h="847970">
                <a:tc>
                  <a:txBody>
                    <a:bodyPr/>
                    <a:lstStyle/>
                    <a:p>
                      <a:pPr algn="ctr">
                        <a:lnSpc>
                          <a:spcPts val="2659"/>
                        </a:lnSpc>
                        <a:defRPr/>
                      </a:pPr>
                      <a:r>
                        <a:rPr lang="en-US" sz="1899" b="1">
                          <a:solidFill>
                            <a:srgbClr val="000000"/>
                          </a:solidFill>
                          <a:latin typeface="Arimo Bold"/>
                          <a:ea typeface="Arimo Bold"/>
                          <a:cs typeface="Arimo Bold"/>
                          <a:sym typeface="Arimo Bold"/>
                        </a:rPr>
                        <a:t>accuracy</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0.92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300</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6"/>
                  </a:ext>
                </a:extLst>
              </a:tr>
              <a:tr h="847970">
                <a:tc>
                  <a:txBody>
                    <a:bodyPr/>
                    <a:lstStyle/>
                    <a:p>
                      <a:pPr algn="ctr">
                        <a:lnSpc>
                          <a:spcPts val="2659"/>
                        </a:lnSpc>
                        <a:defRPr/>
                      </a:pPr>
                      <a:r>
                        <a:rPr lang="en-US" sz="1899" b="1">
                          <a:solidFill>
                            <a:srgbClr val="000000"/>
                          </a:solidFill>
                          <a:latin typeface="Arimo Bold"/>
                          <a:ea typeface="Arimo Bold"/>
                          <a:cs typeface="Arimo Bold"/>
                          <a:sym typeface="Arimo Bold"/>
                        </a:rPr>
                        <a:t>macro avg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0.92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0.92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0.93</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300</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7"/>
                  </a:ext>
                </a:extLst>
              </a:tr>
              <a:tr h="847970">
                <a:tc>
                  <a:txBody>
                    <a:bodyPr/>
                    <a:lstStyle/>
                    <a:p>
                      <a:pPr algn="ctr">
                        <a:lnSpc>
                          <a:spcPts val="2659"/>
                        </a:lnSpc>
                        <a:defRPr/>
                      </a:pPr>
                      <a:r>
                        <a:rPr lang="en-US" sz="1899" b="1">
                          <a:solidFill>
                            <a:srgbClr val="000000"/>
                          </a:solidFill>
                          <a:latin typeface="Arimo Bold"/>
                          <a:ea typeface="Arimo Bold"/>
                          <a:cs typeface="Arimo Bold"/>
                          <a:sym typeface="Arimo Bold"/>
                        </a:rPr>
                        <a:t>weighted avg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0.92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0.92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0.93</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Arimo Bold"/>
                          <a:ea typeface="Arimo Bold"/>
                          <a:cs typeface="Arimo Bold"/>
                          <a:sym typeface="Arimo Bold"/>
                        </a:rPr>
                        <a:t>300</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Box 6"/>
          <p:cNvSpPr txBox="1"/>
          <p:nvPr/>
        </p:nvSpPr>
        <p:spPr>
          <a:xfrm>
            <a:off x="4304585" y="805391"/>
            <a:ext cx="9347078" cy="907760"/>
          </a:xfrm>
          <a:prstGeom prst="rect">
            <a:avLst/>
          </a:prstGeom>
        </p:spPr>
        <p:txBody>
          <a:bodyPr lIns="0" tIns="0" rIns="0" bIns="0" rtlCol="0" anchor="t">
            <a:spAutoFit/>
          </a:bodyPr>
          <a:lstStyle/>
          <a:p>
            <a:pPr algn="ctr">
              <a:lnSpc>
                <a:spcPts val="6986"/>
              </a:lnSpc>
            </a:pPr>
            <a:r>
              <a:rPr lang="en-US" sz="6590">
                <a:solidFill>
                  <a:srgbClr val="00357A"/>
                </a:solidFill>
                <a:latin typeface="Fredoka"/>
                <a:ea typeface="Fredoka"/>
                <a:cs typeface="Fredoka"/>
                <a:sym typeface="Fredoka"/>
              </a:rPr>
              <a:t>Evaluation &amp; Results</a:t>
            </a:r>
          </a:p>
        </p:txBody>
      </p:sp>
      <p:sp>
        <p:nvSpPr>
          <p:cNvPr id="7" name="TextBox 7"/>
          <p:cNvSpPr txBox="1"/>
          <p:nvPr/>
        </p:nvSpPr>
        <p:spPr>
          <a:xfrm>
            <a:off x="1439984" y="1798876"/>
            <a:ext cx="6060954" cy="617184"/>
          </a:xfrm>
          <a:prstGeom prst="rect">
            <a:avLst/>
          </a:prstGeom>
        </p:spPr>
        <p:txBody>
          <a:bodyPr lIns="0" tIns="0" rIns="0" bIns="0" rtlCol="0" anchor="t">
            <a:spAutoFit/>
          </a:bodyPr>
          <a:lstStyle/>
          <a:p>
            <a:pPr algn="l">
              <a:lnSpc>
                <a:spcPts val="4306"/>
              </a:lnSpc>
            </a:pPr>
            <a:r>
              <a:rPr lang="en-US" sz="3076" b="1">
                <a:solidFill>
                  <a:srgbClr val="00167A"/>
                </a:solidFill>
                <a:latin typeface="Agrandir Bold"/>
                <a:ea typeface="Agrandir Bold"/>
                <a:cs typeface="Agrandir Bold"/>
                <a:sym typeface="Agrandir Bold"/>
              </a:rPr>
              <a:t>Classification Report</a:t>
            </a:r>
          </a:p>
        </p:txBody>
      </p:sp>
      <p:sp>
        <p:nvSpPr>
          <p:cNvPr id="8" name="TextBox 8"/>
          <p:cNvSpPr txBox="1"/>
          <p:nvPr/>
        </p:nvSpPr>
        <p:spPr>
          <a:xfrm>
            <a:off x="9691167" y="2031268"/>
            <a:ext cx="6060954" cy="617184"/>
          </a:xfrm>
          <a:prstGeom prst="rect">
            <a:avLst/>
          </a:prstGeom>
        </p:spPr>
        <p:txBody>
          <a:bodyPr lIns="0" tIns="0" rIns="0" bIns="0" rtlCol="0" anchor="t">
            <a:spAutoFit/>
          </a:bodyPr>
          <a:lstStyle/>
          <a:p>
            <a:pPr algn="l">
              <a:lnSpc>
                <a:spcPts val="4306"/>
              </a:lnSpc>
            </a:pPr>
            <a:r>
              <a:rPr lang="en-US" sz="3076" b="1">
                <a:solidFill>
                  <a:srgbClr val="00167A"/>
                </a:solidFill>
                <a:latin typeface="Agrandir Bold"/>
                <a:ea typeface="Agrandir Bold"/>
                <a:cs typeface="Agrandir Bold"/>
                <a:sym typeface="Agrandir Bold"/>
              </a:rPr>
              <a:t>Confusion Matrix</a:t>
            </a:r>
          </a:p>
        </p:txBody>
      </p:sp>
      <p:sp>
        <p:nvSpPr>
          <p:cNvPr id="9" name="TextBox 9"/>
          <p:cNvSpPr txBox="1"/>
          <p:nvPr/>
        </p:nvSpPr>
        <p:spPr>
          <a:xfrm>
            <a:off x="9691167" y="2903773"/>
            <a:ext cx="6060954" cy="2005929"/>
          </a:xfrm>
          <a:prstGeom prst="rect">
            <a:avLst/>
          </a:prstGeom>
        </p:spPr>
        <p:txBody>
          <a:bodyPr lIns="0" tIns="0" rIns="0" bIns="0" rtlCol="0" anchor="t">
            <a:spAutoFit/>
          </a:bodyPr>
          <a:lstStyle/>
          <a:p>
            <a:pPr algn="l">
              <a:lnSpc>
                <a:spcPts val="3886"/>
              </a:lnSpc>
            </a:pPr>
            <a:r>
              <a:rPr lang="en-US" sz="2776" b="1">
                <a:solidFill>
                  <a:srgbClr val="000000"/>
                </a:solidFill>
                <a:latin typeface="Agrandir Bold"/>
                <a:ea typeface="Agrandir Bold"/>
                <a:cs typeface="Agrandir Bold"/>
                <a:sym typeface="Agrandir Bold"/>
              </a:rPr>
              <a:t>[</a:t>
            </a:r>
            <a:r>
              <a:rPr lang="en-US" sz="2776">
                <a:solidFill>
                  <a:srgbClr val="000000"/>
                </a:solidFill>
                <a:latin typeface="Agrandir"/>
                <a:ea typeface="Agrandir"/>
                <a:cs typeface="Agrandir"/>
                <a:sym typeface="Agrandir"/>
              </a:rPr>
              <a:t>[ 78  0  1  0 ]</a:t>
            </a:r>
          </a:p>
          <a:p>
            <a:pPr algn="l">
              <a:lnSpc>
                <a:spcPts val="3886"/>
              </a:lnSpc>
            </a:pPr>
            <a:r>
              <a:rPr lang="en-US" sz="2776">
                <a:solidFill>
                  <a:srgbClr val="000000"/>
                </a:solidFill>
                <a:latin typeface="Agrandir"/>
                <a:ea typeface="Agrandir"/>
                <a:cs typeface="Agrandir"/>
                <a:sym typeface="Agrandir"/>
              </a:rPr>
              <a:t> [ 1  66  2  2 ]</a:t>
            </a:r>
          </a:p>
          <a:p>
            <a:pPr algn="l">
              <a:lnSpc>
                <a:spcPts val="3886"/>
              </a:lnSpc>
            </a:pPr>
            <a:r>
              <a:rPr lang="en-US" sz="2776">
                <a:solidFill>
                  <a:srgbClr val="000000"/>
                </a:solidFill>
                <a:latin typeface="Agrandir"/>
                <a:ea typeface="Agrandir"/>
                <a:cs typeface="Agrandir"/>
                <a:sym typeface="Agrandir"/>
              </a:rPr>
              <a:t> [ 0  2  72  0 ]</a:t>
            </a:r>
          </a:p>
          <a:p>
            <a:pPr algn="l">
              <a:lnSpc>
                <a:spcPts val="3886"/>
              </a:lnSpc>
            </a:pPr>
            <a:r>
              <a:rPr lang="en-US" sz="2776">
                <a:solidFill>
                  <a:srgbClr val="000000"/>
                </a:solidFill>
                <a:latin typeface="Agrandir"/>
                <a:ea typeface="Agrandir"/>
                <a:cs typeface="Agrandir"/>
                <a:sym typeface="Agrandir"/>
              </a:rPr>
              <a:t> [ 9  5  1  61 ]]</a:t>
            </a:r>
          </a:p>
        </p:txBody>
      </p:sp>
      <p:sp>
        <p:nvSpPr>
          <p:cNvPr id="10" name="TextBox 10"/>
          <p:cNvSpPr txBox="1"/>
          <p:nvPr/>
        </p:nvSpPr>
        <p:spPr>
          <a:xfrm>
            <a:off x="9691167" y="5461183"/>
            <a:ext cx="6060954" cy="3989034"/>
          </a:xfrm>
          <a:prstGeom prst="rect">
            <a:avLst/>
          </a:prstGeom>
        </p:spPr>
        <p:txBody>
          <a:bodyPr lIns="0" tIns="0" rIns="0" bIns="0" rtlCol="0" anchor="t">
            <a:spAutoFit/>
          </a:bodyPr>
          <a:lstStyle/>
          <a:p>
            <a:pPr algn="l">
              <a:lnSpc>
                <a:spcPts val="4306"/>
              </a:lnSpc>
            </a:pPr>
            <a:r>
              <a:rPr lang="en-US" sz="3076" b="1">
                <a:solidFill>
                  <a:srgbClr val="00167A"/>
                </a:solidFill>
                <a:latin typeface="Agrandir Bold"/>
                <a:ea typeface="Agrandir Bold"/>
                <a:cs typeface="Agrandir Bold"/>
                <a:sym typeface="Agrandir Bold"/>
              </a:rPr>
              <a:t>Main Errors</a:t>
            </a:r>
          </a:p>
          <a:p>
            <a:pPr marL="556251" lvl="1" indent="-278126" algn="l">
              <a:lnSpc>
                <a:spcPts val="3607"/>
              </a:lnSpc>
              <a:buFont typeface="Arial"/>
              <a:buChar char="•"/>
            </a:pPr>
            <a:r>
              <a:rPr lang="en-US" sz="2576">
                <a:solidFill>
                  <a:srgbClr val="000000"/>
                </a:solidFill>
                <a:latin typeface="Agrandir"/>
                <a:ea typeface="Agrandir"/>
                <a:cs typeface="Agrandir"/>
                <a:sym typeface="Agrandir"/>
              </a:rPr>
              <a:t>Mixed ↔ Neutral</a:t>
            </a:r>
          </a:p>
          <a:p>
            <a:pPr marL="556251" lvl="1" indent="-278126" algn="l">
              <a:lnSpc>
                <a:spcPts val="3607"/>
              </a:lnSpc>
              <a:buFont typeface="Arial"/>
              <a:buChar char="•"/>
            </a:pPr>
            <a:r>
              <a:rPr lang="en-US" sz="2576">
                <a:solidFill>
                  <a:srgbClr val="000000"/>
                </a:solidFill>
                <a:latin typeface="Agrandir"/>
                <a:ea typeface="Agrandir"/>
                <a:cs typeface="Agrandir"/>
                <a:sym typeface="Agrandir"/>
              </a:rPr>
              <a:t>Mixed ↔ Positive/Negative</a:t>
            </a:r>
          </a:p>
          <a:p>
            <a:pPr algn="l">
              <a:lnSpc>
                <a:spcPts val="3607"/>
              </a:lnSpc>
            </a:pPr>
            <a:endParaRPr lang="en-US" sz="2576">
              <a:solidFill>
                <a:srgbClr val="000000"/>
              </a:solidFill>
              <a:latin typeface="Agrandir"/>
              <a:ea typeface="Agrandir"/>
              <a:cs typeface="Agrandir"/>
              <a:sym typeface="Agrandir"/>
            </a:endParaRPr>
          </a:p>
          <a:p>
            <a:pPr algn="l">
              <a:lnSpc>
                <a:spcPts val="4306"/>
              </a:lnSpc>
            </a:pPr>
            <a:r>
              <a:rPr lang="en-US" sz="3076" b="1">
                <a:solidFill>
                  <a:srgbClr val="00167A"/>
                </a:solidFill>
                <a:latin typeface="Agrandir Bold"/>
                <a:ea typeface="Agrandir Bold"/>
                <a:cs typeface="Agrandir Bold"/>
                <a:sym typeface="Agrandir Bold"/>
              </a:rPr>
              <a:t>Reason</a:t>
            </a:r>
          </a:p>
          <a:p>
            <a:pPr algn="l">
              <a:lnSpc>
                <a:spcPts val="3607"/>
              </a:lnSpc>
            </a:pPr>
            <a:r>
              <a:rPr lang="en-US" sz="2576">
                <a:solidFill>
                  <a:srgbClr val="000000"/>
                </a:solidFill>
                <a:latin typeface="Agrandir"/>
                <a:ea typeface="Agrandir"/>
                <a:cs typeface="Agrandir"/>
                <a:sym typeface="Agrandir"/>
              </a:rPr>
              <a:t>Mixed sentiment contains both positive and negative expressions.</a:t>
            </a:r>
          </a:p>
          <a:p>
            <a:pPr algn="l">
              <a:lnSpc>
                <a:spcPts val="4306"/>
              </a:lnSpc>
            </a:pPr>
            <a:endParaRPr lang="en-US" sz="2576">
              <a:solidFill>
                <a:srgbClr val="000000"/>
              </a:solidFill>
              <a:latin typeface="Agrandir"/>
              <a:ea typeface="Agrandir"/>
              <a:cs typeface="Agrandir"/>
              <a:sym typeface="Agrandir"/>
            </a:endParaRPr>
          </a:p>
        </p:txBody>
      </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44246" y="-30727"/>
            <a:ext cx="2482645" cy="3656553"/>
          </a:xfrm>
          <a:custGeom>
            <a:avLst/>
            <a:gdLst/>
            <a:ahLst/>
            <a:cxnLst/>
            <a:rect l="l" t="t" r="r" b="b"/>
            <a:pathLst>
              <a:path w="2975865" h="4191359">
                <a:moveTo>
                  <a:pt x="0" y="0"/>
                </a:moveTo>
                <a:lnTo>
                  <a:pt x="2975865" y="0"/>
                </a:lnTo>
                <a:lnTo>
                  <a:pt x="2975865" y="4191360"/>
                </a:lnTo>
                <a:lnTo>
                  <a:pt x="0" y="419136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LID4096"/>
          </a:p>
        </p:txBody>
      </p:sp>
      <p:sp>
        <p:nvSpPr>
          <p:cNvPr id="3" name="Freeform 3"/>
          <p:cNvSpPr/>
          <p:nvPr/>
        </p:nvSpPr>
        <p:spPr>
          <a:xfrm rot="-10800000" flipH="1">
            <a:off x="16001106" y="7152674"/>
            <a:ext cx="2259855" cy="3182894"/>
          </a:xfrm>
          <a:custGeom>
            <a:avLst/>
            <a:gdLst/>
            <a:ahLst/>
            <a:cxnLst/>
            <a:rect l="l" t="t" r="r" b="b"/>
            <a:pathLst>
              <a:path w="2259855" h="3182894">
                <a:moveTo>
                  <a:pt x="2259854" y="0"/>
                </a:moveTo>
                <a:lnTo>
                  <a:pt x="0" y="0"/>
                </a:lnTo>
                <a:lnTo>
                  <a:pt x="0" y="3182894"/>
                </a:lnTo>
                <a:lnTo>
                  <a:pt x="2259854" y="3182894"/>
                </a:lnTo>
                <a:lnTo>
                  <a:pt x="225985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LID4096" dirty="0"/>
          </a:p>
        </p:txBody>
      </p:sp>
      <p:sp>
        <p:nvSpPr>
          <p:cNvPr id="4" name="Freeform 4"/>
          <p:cNvSpPr/>
          <p:nvPr/>
        </p:nvSpPr>
        <p:spPr>
          <a:xfrm>
            <a:off x="27039" y="7317493"/>
            <a:ext cx="2716161" cy="3182895"/>
          </a:xfrm>
          <a:custGeom>
            <a:avLst/>
            <a:gdLst/>
            <a:ahLst/>
            <a:cxnLst/>
            <a:rect l="l" t="t" r="r" b="b"/>
            <a:pathLst>
              <a:path w="4949069" h="5216410">
                <a:moveTo>
                  <a:pt x="0" y="0"/>
                </a:moveTo>
                <a:lnTo>
                  <a:pt x="4949069" y="0"/>
                </a:lnTo>
                <a:lnTo>
                  <a:pt x="4949069" y="5216409"/>
                </a:lnTo>
                <a:lnTo>
                  <a:pt x="0" y="5216409"/>
                </a:lnTo>
                <a:lnTo>
                  <a:pt x="0" y="0"/>
                </a:lnTo>
                <a:close/>
              </a:path>
            </a:pathLst>
          </a:custGeom>
          <a:blipFill>
            <a:blip>
              <a:alphaModFix amt="41000"/>
              <a:extLst>
                <a:ext uri="{96DAC541-7B7A-43D3-8B79-37D633B846F1}">
                  <asvg:svgBlip xmlns:asvg="http://schemas.microsoft.com/office/drawing/2016/SVG/main" r:embed="rId4"/>
                </a:ext>
              </a:extLst>
            </a:blip>
            <a:stretch>
              <a:fillRect/>
            </a:stretch>
          </a:blipFill>
        </p:spPr>
        <p:txBody>
          <a:bodyPr/>
          <a:lstStyle/>
          <a:p>
            <a:endParaRPr lang="LID4096" dirty="0"/>
          </a:p>
        </p:txBody>
      </p:sp>
      <p:sp>
        <p:nvSpPr>
          <p:cNvPr id="5" name="Freeform 5"/>
          <p:cNvSpPr/>
          <p:nvPr/>
        </p:nvSpPr>
        <p:spPr>
          <a:xfrm flipH="1" flipV="1">
            <a:off x="14782800" y="-167044"/>
            <a:ext cx="3806069" cy="3656554"/>
          </a:xfrm>
          <a:custGeom>
            <a:avLst/>
            <a:gdLst/>
            <a:ahLst/>
            <a:cxnLst/>
            <a:rect l="l" t="t" r="r" b="b"/>
            <a:pathLst>
              <a:path w="4949069" h="5216410">
                <a:moveTo>
                  <a:pt x="4949068" y="5216410"/>
                </a:moveTo>
                <a:lnTo>
                  <a:pt x="0" y="5216410"/>
                </a:lnTo>
                <a:lnTo>
                  <a:pt x="0" y="0"/>
                </a:lnTo>
                <a:lnTo>
                  <a:pt x="4949068" y="0"/>
                </a:lnTo>
                <a:lnTo>
                  <a:pt x="4949068" y="5216410"/>
                </a:lnTo>
                <a:close/>
              </a:path>
            </a:pathLst>
          </a:custGeom>
          <a:blipFill>
            <a:blip>
              <a:alphaModFix amt="41000"/>
              <a:extLst>
                <a:ext uri="{96DAC541-7B7A-43D3-8B79-37D633B846F1}">
                  <asvg:svgBlip xmlns:asvg="http://schemas.microsoft.com/office/drawing/2016/SVG/main" r:embed="rId4"/>
                </a:ext>
              </a:extLst>
            </a:blip>
            <a:stretch>
              <a:fillRect/>
            </a:stretch>
          </a:blipFill>
        </p:spPr>
        <p:txBody>
          <a:bodyPr/>
          <a:lstStyle/>
          <a:p>
            <a:endParaRPr lang="LID4096"/>
          </a:p>
        </p:txBody>
      </p:sp>
      <p:sp>
        <p:nvSpPr>
          <p:cNvPr id="6" name="TextBox 6"/>
          <p:cNvSpPr txBox="1"/>
          <p:nvPr/>
        </p:nvSpPr>
        <p:spPr>
          <a:xfrm>
            <a:off x="4470461" y="764441"/>
            <a:ext cx="9347078" cy="1793585"/>
          </a:xfrm>
          <a:prstGeom prst="rect">
            <a:avLst/>
          </a:prstGeom>
        </p:spPr>
        <p:txBody>
          <a:bodyPr lIns="0" tIns="0" rIns="0" bIns="0" rtlCol="0" anchor="t">
            <a:spAutoFit/>
          </a:bodyPr>
          <a:lstStyle/>
          <a:p>
            <a:pPr algn="ctr">
              <a:lnSpc>
                <a:spcPts val="6986"/>
              </a:lnSpc>
            </a:pPr>
            <a:r>
              <a:rPr lang="en-US" sz="6590">
                <a:solidFill>
                  <a:srgbClr val="00357A"/>
                </a:solidFill>
                <a:latin typeface="Fredoka"/>
                <a:ea typeface="Fredoka"/>
                <a:cs typeface="Fredoka"/>
                <a:sym typeface="Fredoka"/>
              </a:rPr>
              <a:t>Future Work</a:t>
            </a:r>
          </a:p>
          <a:p>
            <a:pPr algn="ctr">
              <a:lnSpc>
                <a:spcPts val="6986"/>
              </a:lnSpc>
            </a:pPr>
            <a:endParaRPr lang="en-US" sz="6590">
              <a:solidFill>
                <a:srgbClr val="00357A"/>
              </a:solidFill>
              <a:latin typeface="Fredoka"/>
              <a:ea typeface="Fredoka"/>
              <a:cs typeface="Fredoka"/>
              <a:sym typeface="Fredoka"/>
            </a:endParaRPr>
          </a:p>
        </p:txBody>
      </p:sp>
      <p:sp>
        <p:nvSpPr>
          <p:cNvPr id="7" name="TextBox 7"/>
          <p:cNvSpPr txBox="1"/>
          <p:nvPr/>
        </p:nvSpPr>
        <p:spPr>
          <a:xfrm>
            <a:off x="1268019" y="3625827"/>
            <a:ext cx="15751962" cy="4557395"/>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Agrandir"/>
                <a:ea typeface="Agrandir"/>
                <a:cs typeface="Agrandir"/>
                <a:sym typeface="Agrandir"/>
              </a:rPr>
              <a:t>Compare with an LLM-based approach: Phi-3</a:t>
            </a:r>
          </a:p>
          <a:p>
            <a:pPr algn="l">
              <a:lnSpc>
                <a:spcPts val="4480"/>
              </a:lnSpc>
            </a:pPr>
            <a:endParaRPr lang="en-US" sz="3200">
              <a:solidFill>
                <a:srgbClr val="000000"/>
              </a:solidFill>
              <a:latin typeface="Agrandir"/>
              <a:ea typeface="Agrandir"/>
              <a:cs typeface="Agrandir"/>
              <a:sym typeface="Agrandir"/>
            </a:endParaRPr>
          </a:p>
          <a:p>
            <a:pPr marL="690881" lvl="1" indent="-345440" algn="l">
              <a:lnSpc>
                <a:spcPts val="4480"/>
              </a:lnSpc>
              <a:buFont typeface="Arial"/>
              <a:buChar char="•"/>
            </a:pPr>
            <a:r>
              <a:rPr lang="en-US" sz="3200">
                <a:solidFill>
                  <a:srgbClr val="000000"/>
                </a:solidFill>
                <a:latin typeface="Agrandir"/>
                <a:ea typeface="Agrandir"/>
                <a:cs typeface="Agrandir"/>
                <a:sym typeface="Agrandir"/>
              </a:rPr>
              <a:t>Train on larger datasets: 2,000 ABSA rows            24,921 ABSA rows </a:t>
            </a:r>
          </a:p>
          <a:p>
            <a:pPr algn="l">
              <a:lnSpc>
                <a:spcPts val="4480"/>
              </a:lnSpc>
            </a:pPr>
            <a:endParaRPr lang="en-US" sz="3200">
              <a:solidFill>
                <a:srgbClr val="000000"/>
              </a:solidFill>
              <a:latin typeface="Agrandir"/>
              <a:ea typeface="Agrandir"/>
              <a:cs typeface="Agrandir"/>
              <a:sym typeface="Agrandir"/>
            </a:endParaRPr>
          </a:p>
          <a:p>
            <a:pPr marL="690881" lvl="1" indent="-345440" algn="l">
              <a:lnSpc>
                <a:spcPts val="4480"/>
              </a:lnSpc>
              <a:buFont typeface="Arial"/>
              <a:buChar char="•"/>
            </a:pPr>
            <a:r>
              <a:rPr lang="en-US" sz="3200">
                <a:solidFill>
                  <a:srgbClr val="000000"/>
                </a:solidFill>
                <a:latin typeface="Agrandir"/>
                <a:ea typeface="Agrandir"/>
                <a:cs typeface="Agrandir"/>
                <a:sym typeface="Agrandir"/>
              </a:rPr>
              <a:t>Improve mixed sentiment detection: tune class weights, learning rate, number of epochs, and decision thresholds</a:t>
            </a:r>
          </a:p>
          <a:p>
            <a:pPr marL="690881" lvl="1" indent="-345440" algn="l">
              <a:lnSpc>
                <a:spcPts val="4480"/>
              </a:lnSpc>
              <a:buFont typeface="Arial"/>
              <a:buChar char="•"/>
            </a:pPr>
            <a:r>
              <a:rPr lang="en-US" sz="3200">
                <a:solidFill>
                  <a:srgbClr val="000000"/>
                </a:solidFill>
                <a:latin typeface="Agrandir"/>
                <a:ea typeface="Agrandir"/>
                <a:cs typeface="Agrandir"/>
                <a:sym typeface="Agrandir"/>
              </a:rPr>
              <a:t>Add automatic aspect detection for raw free-text reviews</a:t>
            </a:r>
          </a:p>
          <a:p>
            <a:pPr algn="l">
              <a:lnSpc>
                <a:spcPts val="4480"/>
              </a:lnSpc>
            </a:pPr>
            <a:endParaRPr lang="en-US" sz="3200">
              <a:solidFill>
                <a:srgbClr val="000000"/>
              </a:solidFill>
              <a:latin typeface="Agrandir"/>
              <a:ea typeface="Agrandir"/>
              <a:cs typeface="Agrandir"/>
              <a:sym typeface="Agrandir"/>
            </a:endParaRPr>
          </a:p>
        </p:txBody>
      </p:sp>
      <p:sp>
        <p:nvSpPr>
          <p:cNvPr id="8" name="AutoShape 8"/>
          <p:cNvSpPr/>
          <p:nvPr/>
        </p:nvSpPr>
        <p:spPr>
          <a:xfrm>
            <a:off x="10483280" y="5124450"/>
            <a:ext cx="871944" cy="0"/>
          </a:xfrm>
          <a:prstGeom prst="line">
            <a:avLst/>
          </a:prstGeom>
          <a:ln w="38100" cap="flat">
            <a:solidFill>
              <a:srgbClr val="000000"/>
            </a:solidFill>
            <a:prstDash val="solid"/>
            <a:headEnd type="none" w="sm" len="sm"/>
            <a:tailEnd type="triangle" w="lg" len="med"/>
          </a:ln>
        </p:spPr>
        <p:txBody>
          <a:bodyPr/>
          <a:lstStyle/>
          <a:p>
            <a:endParaRPr lang="LID4096"/>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4470461" y="622445"/>
            <a:ext cx="9347078" cy="907760"/>
          </a:xfrm>
          <a:prstGeom prst="rect">
            <a:avLst/>
          </a:prstGeom>
        </p:spPr>
        <p:txBody>
          <a:bodyPr lIns="0" tIns="0" rIns="0" bIns="0" rtlCol="0" anchor="t">
            <a:spAutoFit/>
          </a:bodyPr>
          <a:lstStyle/>
          <a:p>
            <a:pPr algn="ctr">
              <a:lnSpc>
                <a:spcPts val="6986"/>
              </a:lnSpc>
            </a:pPr>
            <a:r>
              <a:rPr lang="en-US" sz="6590">
                <a:solidFill>
                  <a:srgbClr val="00357A"/>
                </a:solidFill>
                <a:latin typeface="Fredoka"/>
                <a:ea typeface="Fredoka"/>
                <a:cs typeface="Fredoka"/>
                <a:sym typeface="Fredoka"/>
              </a:rPr>
              <a:t>References</a:t>
            </a:r>
          </a:p>
        </p:txBody>
      </p:sp>
      <p:sp>
        <p:nvSpPr>
          <p:cNvPr id="4" name="TextBox 4"/>
          <p:cNvSpPr txBox="1"/>
          <p:nvPr/>
        </p:nvSpPr>
        <p:spPr>
          <a:xfrm>
            <a:off x="306617" y="2152301"/>
            <a:ext cx="18082610" cy="7482205"/>
          </a:xfrm>
          <a:prstGeom prst="rect">
            <a:avLst/>
          </a:prstGeom>
        </p:spPr>
        <p:txBody>
          <a:bodyPr lIns="0" tIns="0" rIns="0" bIns="0" rtlCol="0" anchor="t">
            <a:spAutoFit/>
          </a:bodyPr>
          <a:lstStyle/>
          <a:p>
            <a:pPr marL="604523" lvl="1" indent="-302261" algn="l">
              <a:lnSpc>
                <a:spcPts val="3920"/>
              </a:lnSpc>
              <a:buAutoNum type="arabicPeriod"/>
            </a:pPr>
            <a:r>
              <a:rPr lang="en-US" sz="2800" dirty="0">
                <a:solidFill>
                  <a:srgbClr val="000000"/>
                </a:solidFill>
                <a:latin typeface="Agrandir"/>
                <a:ea typeface="Agrandir"/>
                <a:cs typeface="Agrandir"/>
                <a:sym typeface="Agrandir"/>
              </a:rPr>
              <a:t> Li J, Yang Y, Mao C, Pang PC, Zhu Q, Xu D, Wang Y. Revealing Patient Dissatisfaction With Health Care Resource Allocation in Multiple Dimensions Using Large Language Models and the International Classification of Diseases 11th Revision: Aspect-Based Sentiment Analysis. J Med Internet Res. 2025 Mar 17;27:e66344. </a:t>
            </a:r>
            <a:r>
              <a:rPr lang="en-US" sz="2800" dirty="0" err="1">
                <a:solidFill>
                  <a:srgbClr val="000000"/>
                </a:solidFill>
                <a:latin typeface="Agrandir"/>
                <a:ea typeface="Agrandir"/>
                <a:cs typeface="Agrandir"/>
                <a:sym typeface="Agrandir"/>
              </a:rPr>
              <a:t>doi</a:t>
            </a:r>
            <a:r>
              <a:rPr lang="en-US" sz="2800" dirty="0">
                <a:solidFill>
                  <a:srgbClr val="000000"/>
                </a:solidFill>
                <a:latin typeface="Agrandir"/>
                <a:ea typeface="Agrandir"/>
                <a:cs typeface="Agrandir"/>
                <a:sym typeface="Agrandir"/>
              </a:rPr>
              <a:t>: 10.2196/66344. PMID: 40096682; PMCID: PMC11959199.</a:t>
            </a:r>
          </a:p>
          <a:p>
            <a:pPr algn="l">
              <a:lnSpc>
                <a:spcPts val="3920"/>
              </a:lnSpc>
            </a:pPr>
            <a:r>
              <a:rPr lang="en-US" sz="2800" u="sng" dirty="0">
                <a:solidFill>
                  <a:srgbClr val="000000"/>
                </a:solidFill>
                <a:latin typeface="Agrandir"/>
                <a:ea typeface="Agrandir"/>
                <a:cs typeface="Agrandir"/>
                <a:sym typeface="Agrandir"/>
                <a:hlinkClick r:id="rId2" tooltip="https://pubmed.ncbi.nlm.nih.gov/40096682/"/>
              </a:rPr>
              <a:t>https://pubmed.ncbi.nlm.nih.gov/40096682/</a:t>
            </a:r>
          </a:p>
          <a:p>
            <a:pPr algn="l">
              <a:lnSpc>
                <a:spcPts val="3920"/>
              </a:lnSpc>
            </a:pPr>
            <a:endParaRPr lang="en-US" sz="2800" u="sng" dirty="0">
              <a:solidFill>
                <a:srgbClr val="000000"/>
              </a:solidFill>
              <a:latin typeface="Agrandir"/>
              <a:ea typeface="Agrandir"/>
              <a:cs typeface="Agrandir"/>
              <a:sym typeface="Agrandir"/>
              <a:hlinkClick r:id="rId2" tooltip="https://pubmed.ncbi.nlm.nih.gov/40096682/"/>
            </a:endParaRPr>
          </a:p>
          <a:p>
            <a:pPr marL="604523" lvl="1" indent="-302261" algn="l">
              <a:lnSpc>
                <a:spcPts val="3920"/>
              </a:lnSpc>
              <a:buAutoNum type="arabicPeriod"/>
            </a:pPr>
            <a:r>
              <a:rPr lang="en-US" sz="2800" dirty="0">
                <a:solidFill>
                  <a:srgbClr val="000000"/>
                </a:solidFill>
                <a:latin typeface="Agrandir"/>
                <a:ea typeface="Agrandir"/>
                <a:cs typeface="Agrandir"/>
                <a:sym typeface="Agrandir"/>
              </a:rPr>
              <a:t>He L, </a:t>
            </a:r>
            <a:r>
              <a:rPr lang="en-US" sz="2800" dirty="0" err="1">
                <a:solidFill>
                  <a:srgbClr val="000000"/>
                </a:solidFill>
                <a:latin typeface="Agrandir"/>
                <a:ea typeface="Agrandir"/>
                <a:cs typeface="Agrandir"/>
                <a:sym typeface="Agrandir"/>
              </a:rPr>
              <a:t>Omranian</a:t>
            </a:r>
            <a:r>
              <a:rPr lang="en-US" sz="2800" dirty="0">
                <a:solidFill>
                  <a:srgbClr val="000000"/>
                </a:solidFill>
                <a:latin typeface="Agrandir"/>
                <a:ea typeface="Agrandir"/>
                <a:cs typeface="Agrandir"/>
                <a:sym typeface="Agrandir"/>
              </a:rPr>
              <a:t> S, McRoy S, Zheng K. Using Large Language Models for sentiment analysis of health-related social media data: empirical evaluation and practical tips. AMIA Annu Symp Proc. 2025 May 22;2024:503-512. PMID: 40417506; PMCID: PMC12099340.</a:t>
            </a:r>
          </a:p>
          <a:p>
            <a:pPr algn="l">
              <a:lnSpc>
                <a:spcPts val="3920"/>
              </a:lnSpc>
            </a:pPr>
            <a:r>
              <a:rPr lang="en-US" sz="2800" u="sng" dirty="0">
                <a:solidFill>
                  <a:srgbClr val="000000"/>
                </a:solidFill>
                <a:latin typeface="Agrandir"/>
                <a:ea typeface="Agrandir"/>
                <a:cs typeface="Agrandir"/>
                <a:sym typeface="Agrandir"/>
                <a:hlinkClick r:id="rId3" tooltip="https://pubmed.ncbi.nlm.nih.gov/40417506/"/>
              </a:rPr>
              <a:t>https://pubmed.ncbi.nlm.nih.gov/40417506/</a:t>
            </a:r>
          </a:p>
          <a:p>
            <a:pPr algn="l">
              <a:lnSpc>
                <a:spcPts val="3920"/>
              </a:lnSpc>
            </a:pPr>
            <a:endParaRPr lang="en-US" sz="2800" u="sng" dirty="0">
              <a:solidFill>
                <a:srgbClr val="000000"/>
              </a:solidFill>
              <a:latin typeface="Agrandir"/>
              <a:ea typeface="Agrandir"/>
              <a:cs typeface="Agrandir"/>
              <a:sym typeface="Agrandir"/>
              <a:hlinkClick r:id="rId3" tooltip="https://pubmed.ncbi.nlm.nih.gov/40417506/"/>
            </a:endParaRPr>
          </a:p>
          <a:p>
            <a:pPr marL="604523" lvl="1" indent="-302261" algn="l">
              <a:lnSpc>
                <a:spcPts val="3920"/>
              </a:lnSpc>
              <a:buAutoNum type="arabicPeriod"/>
            </a:pPr>
            <a:r>
              <a:rPr lang="en-US" sz="2800" dirty="0">
                <a:solidFill>
                  <a:srgbClr val="000000"/>
                </a:solidFill>
                <a:latin typeface="Agrandir"/>
                <a:ea typeface="Agrandir"/>
                <a:cs typeface="Agrandir"/>
                <a:sym typeface="Agrandir"/>
              </a:rPr>
              <a:t>Smolyak D, Bjarnadóttir MV, Crowley K, Agarwal R. Large language models and synthetic health data: progress and prospects. JAMIA Open. 2024 Oct 26;7(4):ooae114. </a:t>
            </a:r>
            <a:r>
              <a:rPr lang="en-US" sz="2800" dirty="0" err="1">
                <a:solidFill>
                  <a:srgbClr val="000000"/>
                </a:solidFill>
                <a:latin typeface="Agrandir"/>
                <a:ea typeface="Agrandir"/>
                <a:cs typeface="Agrandir"/>
                <a:sym typeface="Agrandir"/>
              </a:rPr>
              <a:t>doi</a:t>
            </a:r>
            <a:r>
              <a:rPr lang="en-US" sz="2800" dirty="0">
                <a:solidFill>
                  <a:srgbClr val="000000"/>
                </a:solidFill>
                <a:latin typeface="Agrandir"/>
                <a:ea typeface="Agrandir"/>
                <a:cs typeface="Agrandir"/>
                <a:sym typeface="Agrandir"/>
              </a:rPr>
              <a:t>: 10.1093/</a:t>
            </a:r>
            <a:r>
              <a:rPr lang="en-US" sz="2800" dirty="0" err="1">
                <a:solidFill>
                  <a:srgbClr val="000000"/>
                </a:solidFill>
                <a:latin typeface="Agrandir"/>
                <a:ea typeface="Agrandir"/>
                <a:cs typeface="Agrandir"/>
                <a:sym typeface="Agrandir"/>
              </a:rPr>
              <a:t>jamiaopen</a:t>
            </a:r>
            <a:r>
              <a:rPr lang="en-US" sz="2800" dirty="0">
                <a:solidFill>
                  <a:srgbClr val="000000"/>
                </a:solidFill>
                <a:latin typeface="Agrandir"/>
                <a:ea typeface="Agrandir"/>
                <a:cs typeface="Agrandir"/>
                <a:sym typeface="Agrandir"/>
              </a:rPr>
              <a:t>/ooae114. PMID: 39464796; PMCID: PMC11512648.</a:t>
            </a:r>
          </a:p>
          <a:p>
            <a:pPr algn="l">
              <a:lnSpc>
                <a:spcPts val="3920"/>
              </a:lnSpc>
            </a:pPr>
            <a:r>
              <a:rPr lang="en-US" sz="2800" u="sng" dirty="0">
                <a:solidFill>
                  <a:srgbClr val="000000"/>
                </a:solidFill>
                <a:latin typeface="Agrandir"/>
                <a:ea typeface="Agrandir"/>
                <a:cs typeface="Agrandir"/>
                <a:sym typeface="Agrandir"/>
                <a:hlinkClick r:id="rId4" tooltip="https://pubmed.ncbi.nlm.nih.gov/39464796/"/>
              </a:rPr>
              <a:t>https://pubmed.ncbi.nlm.nih.gov/39464796/</a:t>
            </a:r>
          </a:p>
        </p:txBody>
      </p:sp>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0" y="-18436"/>
            <a:ext cx="2286000" cy="3028336"/>
          </a:xfrm>
          <a:custGeom>
            <a:avLst/>
            <a:gdLst/>
            <a:ahLst/>
            <a:cxnLst/>
            <a:rect l="l" t="t" r="r" b="b"/>
            <a:pathLst>
              <a:path w="2975865" h="4191359">
                <a:moveTo>
                  <a:pt x="0" y="0"/>
                </a:moveTo>
                <a:lnTo>
                  <a:pt x="2975865" y="0"/>
                </a:lnTo>
                <a:lnTo>
                  <a:pt x="2975865" y="4191360"/>
                </a:lnTo>
                <a:lnTo>
                  <a:pt x="0" y="419136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LID4096"/>
          </a:p>
        </p:txBody>
      </p:sp>
      <p:sp>
        <p:nvSpPr>
          <p:cNvPr id="3" name="Freeform 3"/>
          <p:cNvSpPr/>
          <p:nvPr/>
        </p:nvSpPr>
        <p:spPr>
          <a:xfrm rot="-10800000" flipH="1">
            <a:off x="16028145" y="7104106"/>
            <a:ext cx="2259855" cy="3182894"/>
          </a:xfrm>
          <a:custGeom>
            <a:avLst/>
            <a:gdLst/>
            <a:ahLst/>
            <a:cxnLst/>
            <a:rect l="l" t="t" r="r" b="b"/>
            <a:pathLst>
              <a:path w="2259855" h="3182894">
                <a:moveTo>
                  <a:pt x="2259854" y="0"/>
                </a:moveTo>
                <a:lnTo>
                  <a:pt x="0" y="0"/>
                </a:lnTo>
                <a:lnTo>
                  <a:pt x="0" y="3182894"/>
                </a:lnTo>
                <a:lnTo>
                  <a:pt x="2259854" y="3182894"/>
                </a:lnTo>
                <a:lnTo>
                  <a:pt x="225985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LID4096"/>
          </a:p>
        </p:txBody>
      </p:sp>
      <p:sp>
        <p:nvSpPr>
          <p:cNvPr id="4" name="Freeform 4"/>
          <p:cNvSpPr/>
          <p:nvPr/>
        </p:nvSpPr>
        <p:spPr>
          <a:xfrm>
            <a:off x="-21942" y="6134100"/>
            <a:ext cx="3886200" cy="3997210"/>
          </a:xfrm>
          <a:custGeom>
            <a:avLst/>
            <a:gdLst/>
            <a:ahLst/>
            <a:cxnLst/>
            <a:rect l="l" t="t" r="r" b="b"/>
            <a:pathLst>
              <a:path w="4949069" h="5216410">
                <a:moveTo>
                  <a:pt x="0" y="0"/>
                </a:moveTo>
                <a:lnTo>
                  <a:pt x="4949069" y="0"/>
                </a:lnTo>
                <a:lnTo>
                  <a:pt x="4949069" y="5216409"/>
                </a:lnTo>
                <a:lnTo>
                  <a:pt x="0" y="5216409"/>
                </a:lnTo>
                <a:lnTo>
                  <a:pt x="0" y="0"/>
                </a:lnTo>
                <a:close/>
              </a:path>
            </a:pathLst>
          </a:custGeom>
          <a:blipFill>
            <a:blip>
              <a:alphaModFix amt="41000"/>
              <a:extLst>
                <a:ext uri="{96DAC541-7B7A-43D3-8B79-37D633B846F1}">
                  <asvg:svgBlip xmlns:asvg="http://schemas.microsoft.com/office/drawing/2016/SVG/main" r:embed="rId4"/>
                </a:ext>
              </a:extLst>
            </a:blip>
            <a:stretch>
              <a:fillRect/>
            </a:stretch>
          </a:blipFill>
        </p:spPr>
        <p:txBody>
          <a:bodyPr/>
          <a:lstStyle/>
          <a:p>
            <a:endParaRPr lang="LID4096" dirty="0"/>
          </a:p>
        </p:txBody>
      </p:sp>
      <p:sp>
        <p:nvSpPr>
          <p:cNvPr id="5" name="Freeform 5"/>
          <p:cNvSpPr/>
          <p:nvPr/>
        </p:nvSpPr>
        <p:spPr>
          <a:xfrm flipH="1" flipV="1">
            <a:off x="14956811" y="74926"/>
            <a:ext cx="3331189" cy="3831639"/>
          </a:xfrm>
          <a:custGeom>
            <a:avLst/>
            <a:gdLst/>
            <a:ahLst/>
            <a:cxnLst/>
            <a:rect l="l" t="t" r="r" b="b"/>
            <a:pathLst>
              <a:path w="4949069" h="5216410">
                <a:moveTo>
                  <a:pt x="4949068" y="5216410"/>
                </a:moveTo>
                <a:lnTo>
                  <a:pt x="0" y="5216410"/>
                </a:lnTo>
                <a:lnTo>
                  <a:pt x="0" y="0"/>
                </a:lnTo>
                <a:lnTo>
                  <a:pt x="4949068" y="0"/>
                </a:lnTo>
                <a:lnTo>
                  <a:pt x="4949068" y="5216410"/>
                </a:lnTo>
                <a:close/>
              </a:path>
            </a:pathLst>
          </a:custGeom>
          <a:blipFill>
            <a:blip>
              <a:alphaModFix amt="41000"/>
              <a:extLst>
                <a:ext uri="{96DAC541-7B7A-43D3-8B79-37D633B846F1}">
                  <asvg:svgBlip xmlns:asvg="http://schemas.microsoft.com/office/drawing/2016/SVG/main" r:embed="rId4"/>
                </a:ext>
              </a:extLst>
            </a:blip>
            <a:stretch>
              <a:fillRect/>
            </a:stretch>
          </a:blipFill>
        </p:spPr>
        <p:txBody>
          <a:bodyPr/>
          <a:lstStyle/>
          <a:p>
            <a:endParaRPr lang="LID4096"/>
          </a:p>
        </p:txBody>
      </p:sp>
      <p:sp>
        <p:nvSpPr>
          <p:cNvPr id="6" name="TextBox 6"/>
          <p:cNvSpPr txBox="1"/>
          <p:nvPr/>
        </p:nvSpPr>
        <p:spPr>
          <a:xfrm>
            <a:off x="4470461" y="3897962"/>
            <a:ext cx="9347078" cy="1389079"/>
          </a:xfrm>
          <a:prstGeom prst="rect">
            <a:avLst/>
          </a:prstGeom>
        </p:spPr>
        <p:txBody>
          <a:bodyPr lIns="0" tIns="0" rIns="0" bIns="0" rtlCol="0" anchor="t">
            <a:spAutoFit/>
          </a:bodyPr>
          <a:lstStyle/>
          <a:p>
            <a:pPr algn="ctr">
              <a:lnSpc>
                <a:spcPts val="10695"/>
              </a:lnSpc>
            </a:pPr>
            <a:r>
              <a:rPr lang="en-US" sz="10090">
                <a:solidFill>
                  <a:srgbClr val="00357A"/>
                </a:solidFill>
                <a:latin typeface="Fredoka"/>
                <a:ea typeface="Fredoka"/>
                <a:cs typeface="Fredoka"/>
                <a:sym typeface="Fredoka"/>
              </a:rPr>
              <a:t>Thank You</a:t>
            </a:r>
          </a:p>
        </p:txBody>
      </p:sp>
    </p:spTree>
  </p:cSld>
  <p:clrMapOvr>
    <a:masterClrMapping/>
  </p:clrMapOvr>
  <p:transition>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978</Words>
  <Application>Microsoft Office PowerPoint</Application>
  <PresentationFormat>מותאם אישית</PresentationFormat>
  <Paragraphs>164</Paragraphs>
  <Slides>12</Slides>
  <Notes>0</Notes>
  <HiddenSlides>0</HiddenSlides>
  <MMClips>0</MMClips>
  <ScaleCrop>false</ScaleCrop>
  <HeadingPairs>
    <vt:vector size="6" baseType="variant">
      <vt:variant>
        <vt:lpstr>גופנים בשימוש</vt:lpstr>
      </vt:variant>
      <vt:variant>
        <vt:i4>7</vt:i4>
      </vt:variant>
      <vt:variant>
        <vt:lpstr>ערכת נושא</vt:lpstr>
      </vt:variant>
      <vt:variant>
        <vt:i4>1</vt:i4>
      </vt:variant>
      <vt:variant>
        <vt:lpstr>כותרות שקופיות</vt:lpstr>
      </vt:variant>
      <vt:variant>
        <vt:i4>12</vt:i4>
      </vt:variant>
    </vt:vector>
  </HeadingPairs>
  <TitlesOfParts>
    <vt:vector size="20" baseType="lpstr">
      <vt:lpstr>Arial</vt:lpstr>
      <vt:lpstr>Agrandir Bold</vt:lpstr>
      <vt:lpstr>Fredoka</vt:lpstr>
      <vt:lpstr>Calibri</vt:lpstr>
      <vt:lpstr>Arimo</vt:lpstr>
      <vt:lpstr>Agrandir</vt:lpstr>
      <vt:lpstr>Arimo Bold</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עיבוד שפה טבעית</dc:title>
  <cp:lastModifiedBy>Adi Caduri</cp:lastModifiedBy>
  <cp:revision>2</cp:revision>
  <dcterms:created xsi:type="dcterms:W3CDTF">2006-08-16T00:00:00Z</dcterms:created>
  <dcterms:modified xsi:type="dcterms:W3CDTF">2026-06-23T13:41:30Z</dcterms:modified>
  <dc:identifier>DAHI4YR2cF4</dc:identifier>
</cp:coreProperties>
</file>